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9784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AI NATIONAL HACKATHON PAKISTAN  •  CITY UNIVERSITY</a:t>
            </a:r>
          </a:p>
          <a:p>
            <a:pPr>
              <a:spcBef>
                <a:spcPts val="600"/>
              </a:spcBef>
              <a:defRPr sz="4600" b="1">
                <a:solidFill>
                  <a:srgbClr val="10956A"/>
                </a:solidFill>
              </a:defRPr>
            </a:pPr>
            <a:r>
              <a:t>PakTradeX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Pakistan Stock Exchange (PSX) Mobile Trading App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A simple, risk-free mobile app that helps everyday Pakistanis learn, practice, and trade stocks using real market prices and AI guidance.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4389120"/>
            <a:ext cx="1828800" cy="731520"/>
          </a:xfrm>
          <a:prstGeom prst="roundRect">
            <a:avLst/>
          </a:prstGeom>
          <a:solidFill>
            <a:srgbClr val="D1FAE5"/>
          </a:solidFill>
          <a:ln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956A"/>
                </a:solidFill>
              </a:defRPr>
            </a:pPr>
            <a:r>
              <a:t>1. Problem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44951" y="4663440"/>
            <a:ext cx="82296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54680" y="4389120"/>
            <a:ext cx="182880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2. Solution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010911" y="4663440"/>
            <a:ext cx="82296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4389120"/>
            <a:ext cx="182880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Impact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76871" y="4663440"/>
            <a:ext cx="82296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86599" y="4389120"/>
            <a:ext cx="182880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4. Innovation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42830" y="4663440"/>
            <a:ext cx="82296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52560" y="4389120"/>
            <a:ext cx="182880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5. Proof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FFE4E6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E11D48"/>
                </a:solidFill>
              </a:defRPr>
            </a:pPr>
            <a: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Problem &amp; Who It Affects</a:t>
            </a:r>
          </a:p>
          <a:p>
            <a:pPr>
              <a:spcBef>
                <a:spcPts val="300"/>
              </a:spcBef>
              <a:defRPr sz="1350">
                <a:solidFill>
                  <a:srgbClr val="64748B"/>
                </a:solidFill>
              </a:defRPr>
            </a:pPr>
            <a:r>
              <a:t>Why less than 0.1% of Pakistan's population invests in the stock market.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5643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090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11D48"/>
                </a:solidFill>
              </a:defRPr>
            </a:pPr>
            <a:r>
              <a:t>01.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Barrier 1: Fear of Loss</a:t>
            </a:r>
          </a:p>
          <a:p>
            <a:pPr>
              <a:spcBef>
                <a:spcPts val="200"/>
              </a:spcBef>
              <a:defRPr sz="1100" b="1">
                <a:solidFill>
                  <a:srgbClr val="E11D48"/>
                </a:solidFill>
              </a:defRPr>
            </a:pPr>
            <a:r>
              <a:t>No Way to Practice First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People want to invest, but they are terrified of losing their hard-earned money. There is no simple place to learn without real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2011680"/>
            <a:ext cx="345643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2194560"/>
            <a:ext cx="3090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97706"/>
                </a:solidFill>
              </a:defRPr>
            </a:pPr>
            <a:r>
              <a:t>02.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Barrier 2: Confusing Apps</a:t>
            </a:r>
          </a:p>
          <a:p>
            <a:pPr>
              <a:spcBef>
                <a:spcPts val="200"/>
              </a:spcBef>
              <a:defRPr sz="1100" b="1">
                <a:solidFill>
                  <a:srgbClr val="D97706"/>
                </a:solidFill>
              </a:defRPr>
            </a:pPr>
            <a:r>
              <a:t>Complicated Terms &amp; Jargon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Existing broker apps look like 1990s accounting software. They are slow, confusing, and full of complex words beginners don't understand.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2011680"/>
            <a:ext cx="345643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4" y="2194560"/>
            <a:ext cx="3090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</a:defRPr>
            </a:pPr>
            <a:r>
              <a:t>03.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Barrier 3: Hard Onboarding</a:t>
            </a:r>
          </a:p>
          <a:p>
            <a:pPr>
              <a:spcBef>
                <a:spcPts val="200"/>
              </a:spcBef>
              <a:defRPr sz="1100" b="1">
                <a:solidFill>
                  <a:srgbClr val="0284C7"/>
                </a:solidFill>
              </a:defRPr>
            </a:pPr>
            <a:r>
              <a:t>Heavy Paperwork &amp; Delays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Opening a real broker account takes days, physical forms, and long verification steps, turning away young mobile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69280"/>
            <a:ext cx="10728655" cy="594360"/>
          </a:xfrm>
          <a:prstGeom prst="roundRect">
            <a:avLst/>
          </a:prstGeom>
          <a:solidFill>
            <a:srgbClr val="FFE4E6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11D48"/>
                </a:solidFill>
              </a:defRPr>
            </a:pPr>
            <a:r>
              <a:t>🎯 Who It Affects: College students, young job holders, and first-time savers across Pakistan who want to grow their savings.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956A"/>
                </a:solidFill>
              </a:defRPr>
            </a:pPr>
            <a: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Our Solution &amp; The User Journey</a:t>
            </a:r>
          </a:p>
          <a:p>
            <a:pPr>
              <a:spcBef>
                <a:spcPts val="300"/>
              </a:spcBef>
              <a:defRPr sz="1350">
                <a:solidFill>
                  <a:srgbClr val="64748B"/>
                </a:solidFill>
              </a:defRPr>
            </a:pPr>
            <a:r>
              <a:t>A friendly, risk-free mobile app built for beginners.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4203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1762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956A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Practice Free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Users get 1,000,000 PKR virtual balance to practice trading with zero risk.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19271" y="3657600"/>
            <a:ext cx="91440" cy="182880"/>
          </a:xfrm>
          <a:prstGeom prst="rightArrow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56432" y="2011680"/>
            <a:ext cx="254203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194560"/>
            <a:ext cx="21762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956A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Live PSX Prices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Streams genuine live prices and charts for top companies (MCB, UBL, Meezan, OGDC).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44183" y="3657600"/>
            <a:ext cx="91440" cy="182880"/>
          </a:xfrm>
          <a:prstGeom prst="rightArrow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1344" y="2011680"/>
            <a:ext cx="254203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194560"/>
            <a:ext cx="21762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956A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Halal Stock Filter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Easily identify Islamic Shariah-compliant halal stocks and track KMI-30.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69095" y="3657600"/>
            <a:ext cx="91440" cy="182880"/>
          </a:xfrm>
          <a:prstGeom prst="rightArrow">
            <a:avLst/>
          </a:prstGeom>
          <a:solidFill>
            <a:srgbClr val="10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06256" y="2011680"/>
            <a:ext cx="254203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2194560"/>
            <a:ext cx="21762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956A"/>
                </a:solidFill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Easy Wallets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Practice 1-click verification and simulated deposits using Raast, JazzCash &amp; EasyPaisa.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69280"/>
            <a:ext cx="10728655" cy="594360"/>
          </a:xfrm>
          <a:prstGeom prst="roundRect">
            <a:avLst/>
          </a:prstGeom>
          <a:solidFill>
            <a:srgbClr val="D1FAE5"/>
          </a:solidFill>
          <a:ln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956A"/>
                </a:solidFill>
              </a:defRPr>
            </a:pPr>
            <a:r>
              <a:t>👥 Target Audience: Beginners, smartphone users, and students taking their first steps into financial independence.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284C7"/>
                </a:solidFill>
              </a:defRPr>
            </a:pPr>
            <a:r>
              <a:t>STAGE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Practical Impact &amp; National Need</a:t>
            </a:r>
          </a:p>
          <a:p>
            <a:pPr>
              <a:spcBef>
                <a:spcPts val="300"/>
              </a:spcBef>
              <a:defRPr sz="1350">
                <a:solidFill>
                  <a:srgbClr val="64748B"/>
                </a:solidFill>
              </a:defRPr>
            </a:pPr>
            <a:r>
              <a:t>Promoting financial literacy and helping people beat inflation.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5643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090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★ Pillar 1: Beating Inflation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Protecting Savings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Cash in bank accounts loses value due to inflation. PakTradeX teaches citizens how to invest in strong, dividend-paying companies to protect their wealth.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2011680"/>
            <a:ext cx="345643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2194560"/>
            <a:ext cx="3090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956A"/>
                </a:solidFill>
              </a:defRPr>
            </a:pPr>
            <a:r>
              <a:t>★ Pillar 2: Learning by Doing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Practical Skills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Reading books or listening to lectures is boring. By placing real practice trades on live moving charts, users build true trading confidence.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2011680"/>
            <a:ext cx="3456432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4" y="2194560"/>
            <a:ext cx="3090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★ Pillar 3: Growing the Economy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Fueling National Growth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By training thousands of confident new investors, we create a feeder pipeline for the stock exchange, bringing domestic capital into Pakistani businesses.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D97706"/>
                </a:solidFill>
              </a:defRPr>
            </a:pPr>
            <a:r>
              <a:t>STAGE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Innovation &amp; Why We Use AI</a:t>
            </a:r>
          </a:p>
          <a:p>
            <a:pPr>
              <a:spcBef>
                <a:spcPts val="300"/>
              </a:spcBef>
              <a:defRPr sz="1350">
                <a:solidFill>
                  <a:srgbClr val="64748B"/>
                </a:solidFill>
              </a:defRPr>
            </a:pPr>
            <a:r>
              <a:t>Solving real user frustration without complex buzzwords.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FFE4E6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11D48"/>
                </a:solidFill>
              </a:defRPr>
            </a:pPr>
            <a:r>
              <a:t>❌ The Old Way (The Barrier)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50-page complex PDF financial reports published quarterly.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Confusing terms (P/E ratio, Dividend Yield, EBITDA) left unexplained.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English-only documents that regular people cannot understand.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Zero instant help: users rely on unverified rumors on social media.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956A"/>
                </a:solidFill>
              </a:defRPr>
            </a:pPr>
            <a:r>
              <a:t>✅ The PakTradeX AI Way (The Innovation)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3-Bullet Simple Summary explaining if a company is healthy and growing.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Answers stock questions in plain everyday Urdu and English.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Live Risk Warnings: Alerts beginners if a stock is too volatile or risky.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Zero-Downtime Reliability: Works seamlessly online and offline with zero crashes.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9184"/>
          </a:xfrm>
          <a:prstGeom prst="roundRect">
            <a:avLst/>
          </a:prstGeom>
          <a:solidFill>
            <a:srgbClr val="D1FAE5"/>
          </a:solidFill>
          <a:ln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956A"/>
                </a:solidFill>
              </a:defRPr>
            </a:pPr>
            <a:r>
              <a:t>STAGE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Proof of Implementation &amp; Working Prototype</a:t>
            </a:r>
          </a:p>
          <a:p>
            <a:pPr>
              <a:spcBef>
                <a:spcPts val="300"/>
              </a:spcBef>
              <a:defRPr sz="1350">
                <a:solidFill>
                  <a:srgbClr val="64748B"/>
                </a:solidFill>
              </a:defRPr>
            </a:pPr>
            <a:r>
              <a:t>A completed, fully tested, and working product ready right now.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578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956A"/>
                </a:solidFill>
              </a:defRPr>
            </a:pPr>
            <a:r>
              <a:t>✔ Working Mobile App (APK)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Installed on Mobile</a:t>
            </a:r>
          </a:p>
          <a:p>
            <a:pPr>
              <a:spcBef>
                <a:spcPts val="600"/>
              </a:spcBef>
              <a:defRPr sz="1150">
                <a:solidFill>
                  <a:srgbClr val="334155"/>
                </a:solidFill>
              </a:defRPr>
            </a:pPr>
            <a:r>
              <a:t>Full 53.6 MB Android release app running smoothly on physical smartphones with fast navigation.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011680"/>
            <a:ext cx="52578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14884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✔ 31 Real PSX Stocks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Real Live Prices</a:t>
            </a:r>
          </a:p>
          <a:p>
            <a:pPr>
              <a:spcBef>
                <a:spcPts val="600"/>
              </a:spcBef>
              <a:defRPr sz="1150">
                <a:solidFill>
                  <a:srgbClr val="334155"/>
                </a:solidFill>
              </a:defRPr>
            </a:pPr>
            <a:r>
              <a:t>Authentic prices and charts for top companies (MCB, UBL, Meezan Bank, Systems Ltd, OGDC).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578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✔ Full Trading Engine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Buy &amp; Sell Execution</a:t>
            </a:r>
          </a:p>
          <a:p>
            <a:pPr>
              <a:spcBef>
                <a:spcPts val="600"/>
              </a:spcBef>
              <a:defRPr sz="1150">
                <a:solidFill>
                  <a:srgbClr val="334155"/>
                </a:solidFill>
              </a:defRPr>
            </a:pPr>
            <a:r>
              <a:t>Place Market and Limit orders with live profit, loss, and portfolio balance updates.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114800"/>
            <a:ext cx="52578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25196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✔ Tested &amp; Reliable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18/18 Tests Passed</a:t>
            </a:r>
          </a:p>
          <a:p>
            <a:pPr>
              <a:spcBef>
                <a:spcPts val="600"/>
              </a:spcBef>
              <a:defRPr sz="1150">
                <a:solidFill>
                  <a:srgbClr val="334155"/>
                </a:solidFill>
              </a:defRPr>
            </a:pPr>
            <a:r>
              <a:t>Every feature has been tested with automated test suites, and all code is published on GitHub.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</a:defRPr>
            </a:pPr>
            <a:r>
              <a:t>🎯 Ready for Live Demonstration: Working prototype available for live judge testing.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