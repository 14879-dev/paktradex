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188720"/>
            <a:ext cx="9601200" cy="2926080"/>
          </a:xfrm>
          <a:prstGeom prst="rect">
            <a:avLst/>
          </a:prstGeom>
          <a:noFill/>
        </p:spPr>
        <p:txBody>
          <a:bodyPr wrap="square">
            <a:spAutoFit/>
          </a:bodyPr>
          <a:lstStyle/>
          <a:p>
            <a:pPr>
              <a:defRPr sz="1200" b="1">
                <a:solidFill>
                  <a:srgbClr val="0284C7"/>
                </a:solidFill>
              </a:defRPr>
            </a:pPr>
            <a:r>
              <a:t>AI NATIONAL HACKATHON PAKISTAN  •  CITY UNIVERSITY</a:t>
            </a:r>
          </a:p>
          <a:p>
            <a:pPr>
              <a:spcBef>
                <a:spcPts val="800"/>
              </a:spcBef>
              <a:defRPr sz="4600" b="1">
                <a:solidFill>
                  <a:srgbClr val="059669"/>
                </a:solidFill>
              </a:defRPr>
            </a:pPr>
            <a:r>
              <a:t>PakTradeX</a:t>
            </a:r>
          </a:p>
          <a:p>
            <a:pPr>
              <a:spcBef>
                <a:spcPts val="400"/>
              </a:spcBef>
              <a:defRPr sz="2200" b="1">
                <a:solidFill>
                  <a:srgbClr val="0F172A"/>
                </a:solidFill>
              </a:defRPr>
            </a:pPr>
            <a:r>
              <a:t>Democratizing Pakistan's Stock Market with AI-Powered Intelligence</a:t>
            </a:r>
          </a:p>
          <a:p>
            <a:pPr>
              <a:spcBef>
                <a:spcPts val="1200"/>
              </a:spcBef>
              <a:defRPr sz="1300">
                <a:solidFill>
                  <a:srgbClr val="334155"/>
                </a:solidFill>
              </a:defRPr>
            </a:pPr>
            <a:r>
              <a:t>A full-stack, risk-free mobile trading platform bridging 240M citizens to the Pakistan Stock Exchange (PSX) through live market streaming, SECP-aligned digital KYC, and Gemini AI advisory.</a:t>
            </a:r>
          </a:p>
        </p:txBody>
      </p:sp>
      <p:sp>
        <p:nvSpPr>
          <p:cNvPr id="5" name="Rounded Rectangle 4"/>
          <p:cNvSpPr/>
          <p:nvPr/>
        </p:nvSpPr>
        <p:spPr>
          <a:xfrm>
            <a:off x="1280160" y="4389120"/>
            <a:ext cx="9601200" cy="10972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64748B"/>
                </a:solidFill>
              </a:defRPr>
            </a:pPr>
            <a:r>
              <a:t>PITCH STRUCTURE RECOMMENDED BY SIR WAHAB KHAN:</a:t>
            </a:r>
          </a:p>
          <a:p>
            <a:pPr>
              <a:spcBef>
                <a:spcPts val="400"/>
              </a:spcBef>
              <a:defRPr sz="1400" b="1">
                <a:solidFill>
                  <a:srgbClr val="059669"/>
                </a:solidFill>
              </a:defRPr>
            </a:pPr>
            <a:r>
              <a:t>1. Problem Discovery  →  2. Solution Architecture  →  3. Practical Impact  →  4. Technical Innovation  →  5. Evidence &amp; Proof</a:t>
            </a:r>
          </a:p>
        </p:txBody>
      </p:sp>
    </p:spTree>
  </p:cSld>
  <p:clrMapOvr>
    <a:masterClrMapping/>
  </p:clrMapOvr>
  <p:transition xmlns:p14="http://schemas.microsoft.com/office/powerpoint/2010/main">
    <p14:morph option="byObject"/>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FFE4E6"/>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E11D48"/>
                </a:solidFill>
              </a:defRPr>
            </a:pPr>
            <a:r>
              <a:t>STAGE 1: PROBLEM DISCOVERY</a:t>
            </a:r>
          </a:p>
        </p:txBody>
      </p:sp>
      <p:sp>
        <p:nvSpPr>
          <p:cNvPr id="4" name="TextBox 3"/>
          <p:cNvSpPr txBox="1"/>
          <p:nvPr/>
        </p:nvSpPr>
        <p:spPr>
          <a:xfrm>
            <a:off x="731520" y="777240"/>
            <a:ext cx="10728655" cy="1051560"/>
          </a:xfrm>
          <a:prstGeom prst="rect">
            <a:avLst/>
          </a:prstGeom>
          <a:noFill/>
        </p:spPr>
        <p:txBody>
          <a:bodyPr wrap="square" lIns="0" tIns="0" rIns="0" bIns="0">
            <a:spAutoFit/>
          </a:bodyPr>
          <a:lstStyle/>
          <a:p>
            <a:pPr>
              <a:defRPr sz="2500" b="1">
                <a:solidFill>
                  <a:srgbClr val="0F172A"/>
                </a:solidFill>
              </a:defRPr>
            </a:pPr>
            <a:r>
              <a:t>The Real-World Problem &amp; Target Users</a:t>
            </a:r>
          </a:p>
          <a:p>
            <a:pPr>
              <a:spcBef>
                <a:spcPts val="300"/>
              </a:spcBef>
              <a:defRPr sz="1300">
                <a:solidFill>
                  <a:srgbClr val="64748B"/>
                </a:solidFill>
              </a:defRPr>
            </a:pPr>
            <a:r>
              <a:t>Why less than 0.1% of Pakistan's population invests in equities.</a:t>
            </a:r>
          </a:p>
        </p:txBody>
      </p:sp>
      <p:sp>
        <p:nvSpPr>
          <p:cNvPr id="5" name="Rounded Rectangle 4"/>
          <p:cNvSpPr/>
          <p:nvPr/>
        </p:nvSpPr>
        <p:spPr>
          <a:xfrm>
            <a:off x="731520" y="2011680"/>
            <a:ext cx="3456432" cy="411480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94560"/>
            <a:ext cx="2999232" cy="3657600"/>
          </a:xfrm>
          <a:prstGeom prst="rect">
            <a:avLst/>
          </a:prstGeom>
          <a:noFill/>
        </p:spPr>
        <p:txBody>
          <a:bodyPr wrap="square">
            <a:spAutoFit/>
          </a:bodyPr>
          <a:lstStyle/>
          <a:p>
            <a:pPr>
              <a:defRPr sz="2400" b="1">
                <a:solidFill>
                  <a:srgbClr val="E11D48"/>
                </a:solidFill>
              </a:defRPr>
            </a:pPr>
            <a:r>
              <a:t>01</a:t>
            </a:r>
          </a:p>
          <a:p>
            <a:pPr>
              <a:spcBef>
                <a:spcPts val="600"/>
              </a:spcBef>
              <a:defRPr sz="1600" b="1">
                <a:solidFill>
                  <a:srgbClr val="0F172A"/>
                </a:solidFill>
              </a:defRPr>
            </a:pPr>
            <a:r>
              <a:t>Massive Financial Exclusion</a:t>
            </a:r>
          </a:p>
          <a:p>
            <a:pPr>
              <a:spcBef>
                <a:spcPts val="400"/>
              </a:spcBef>
              <a:defRPr sz="1100" b="1">
                <a:solidFill>
                  <a:srgbClr val="E11D48"/>
                </a:solidFill>
              </a:defRPr>
            </a:pPr>
            <a:r>
              <a:t>240M Population vs. &lt;250,000 PSX Accounts</a:t>
            </a:r>
          </a:p>
          <a:p>
            <a:pPr>
              <a:spcBef>
                <a:spcPts val="1200"/>
              </a:spcBef>
              <a:defRPr sz="1200">
                <a:solidFill>
                  <a:srgbClr val="334155"/>
                </a:solidFill>
              </a:defRPr>
            </a:pPr>
            <a:r>
              <a:t>Less than 0.1% of Pakistanis participate in the capital market. People keep cash in devaluing bank deposits or informal committees due to high fear of losing money.</a:t>
            </a:r>
          </a:p>
          <a:p>
            <a:pPr>
              <a:spcBef>
                <a:spcPts val="1600"/>
              </a:spcBef>
              <a:defRPr sz="1050" b="1">
                <a:solidFill>
                  <a:srgbClr val="64748B"/>
                </a:solidFill>
              </a:defRPr>
            </a:pPr>
            <a:r>
              <a:t>🎯 Affects: First-time retail investors &amp; savers</a:t>
            </a:r>
          </a:p>
        </p:txBody>
      </p:sp>
      <p:sp>
        <p:nvSpPr>
          <p:cNvPr id="7" name="Rounded Rectangle 6"/>
          <p:cNvSpPr/>
          <p:nvPr/>
        </p:nvSpPr>
        <p:spPr>
          <a:xfrm>
            <a:off x="4370832" y="2011680"/>
            <a:ext cx="3456432" cy="41148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2194560"/>
            <a:ext cx="2999232" cy="3657600"/>
          </a:xfrm>
          <a:prstGeom prst="rect">
            <a:avLst/>
          </a:prstGeom>
          <a:noFill/>
        </p:spPr>
        <p:txBody>
          <a:bodyPr wrap="square">
            <a:spAutoFit/>
          </a:bodyPr>
          <a:lstStyle/>
          <a:p>
            <a:pPr>
              <a:defRPr sz="2400" b="1">
                <a:solidFill>
                  <a:srgbClr val="D97706"/>
                </a:solidFill>
              </a:defRPr>
            </a:pPr>
            <a:r>
              <a:t>02</a:t>
            </a:r>
          </a:p>
          <a:p>
            <a:pPr>
              <a:spcBef>
                <a:spcPts val="600"/>
              </a:spcBef>
              <a:defRPr sz="1600" b="1">
                <a:solidFill>
                  <a:srgbClr val="0F172A"/>
                </a:solidFill>
              </a:defRPr>
            </a:pPr>
            <a:r>
              <a:t>Intimidating &amp; Outdated Tools</a:t>
            </a:r>
          </a:p>
          <a:p>
            <a:pPr>
              <a:spcBef>
                <a:spcPts val="400"/>
              </a:spcBef>
              <a:defRPr sz="1100" b="1">
                <a:solidFill>
                  <a:srgbClr val="D97706"/>
                </a:solidFill>
              </a:defRPr>
            </a:pPr>
            <a:r>
              <a:t>Complex Desktop Terminals with Zero Sandboxes</a:t>
            </a:r>
          </a:p>
          <a:p>
            <a:pPr>
              <a:spcBef>
                <a:spcPts val="1200"/>
              </a:spcBef>
              <a:defRPr sz="1200">
                <a:solidFill>
                  <a:srgbClr val="334155"/>
                </a:solidFill>
              </a:defRPr>
            </a:pPr>
            <a:r>
              <a:t>Existing broker apps are clunky, full of financial jargon, and offer NO risk-free paper trading. Newcomers are expected to risk real savings on Day 1 with zero practice.</a:t>
            </a:r>
          </a:p>
          <a:p>
            <a:pPr>
              <a:spcBef>
                <a:spcPts val="1600"/>
              </a:spcBef>
              <a:defRPr sz="1050" b="1">
                <a:solidFill>
                  <a:srgbClr val="64748B"/>
                </a:solidFill>
              </a:defRPr>
            </a:pPr>
            <a:r>
              <a:t>🎯 Affects: University students &amp; young professionals</a:t>
            </a:r>
          </a:p>
        </p:txBody>
      </p:sp>
      <p:sp>
        <p:nvSpPr>
          <p:cNvPr id="9" name="Rounded Rectangle 8"/>
          <p:cNvSpPr/>
          <p:nvPr/>
        </p:nvSpPr>
        <p:spPr>
          <a:xfrm>
            <a:off x="8010144" y="2011680"/>
            <a:ext cx="3456432" cy="41148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2194560"/>
            <a:ext cx="2999232" cy="3657600"/>
          </a:xfrm>
          <a:prstGeom prst="rect">
            <a:avLst/>
          </a:prstGeom>
          <a:noFill/>
        </p:spPr>
        <p:txBody>
          <a:bodyPr wrap="square">
            <a:spAutoFit/>
          </a:bodyPr>
          <a:lstStyle/>
          <a:p>
            <a:pPr>
              <a:defRPr sz="2400" b="1">
                <a:solidFill>
                  <a:srgbClr val="0284C7"/>
                </a:solidFill>
              </a:defRPr>
            </a:pPr>
            <a:r>
              <a:t>03</a:t>
            </a:r>
          </a:p>
          <a:p>
            <a:pPr>
              <a:spcBef>
                <a:spcPts val="600"/>
              </a:spcBef>
              <a:defRPr sz="1600" b="1">
                <a:solidFill>
                  <a:srgbClr val="0F172A"/>
                </a:solidFill>
              </a:defRPr>
            </a:pPr>
            <a:r>
              <a:t>Frictional SECP Onboarding</a:t>
            </a:r>
          </a:p>
          <a:p>
            <a:pPr>
              <a:spcBef>
                <a:spcPts val="400"/>
              </a:spcBef>
              <a:defRPr sz="1100" b="1">
                <a:solidFill>
                  <a:srgbClr val="0284C7"/>
                </a:solidFill>
              </a:defRPr>
            </a:pPr>
            <a:r>
              <a:t>Lengthy Physical Paperwork &amp; Unclear KYC</a:t>
            </a:r>
          </a:p>
          <a:p>
            <a:pPr>
              <a:spcBef>
                <a:spcPts val="1200"/>
              </a:spcBef>
              <a:defRPr sz="1200">
                <a:solidFill>
                  <a:srgbClr val="334155"/>
                </a:solidFill>
              </a:defRPr>
            </a:pPr>
            <a:r>
              <a:t>Opening a traditional CDC broker account takes days, physical visits, and complex documentation, alienating tech-savvy youth used to instant digital wallets.</a:t>
            </a:r>
          </a:p>
          <a:p>
            <a:pPr>
              <a:spcBef>
                <a:spcPts val="1600"/>
              </a:spcBef>
              <a:defRPr sz="1050" b="1">
                <a:solidFill>
                  <a:srgbClr val="64748B"/>
                </a:solidFill>
              </a:defRPr>
            </a:pPr>
            <a:r>
              <a:t>🎯 Affects: Smartphone-first digital citizens</a:t>
            </a:r>
          </a:p>
        </p:txBody>
      </p:sp>
    </p:spTree>
  </p:cSld>
  <p:clrMapOvr>
    <a:masterClrMapping/>
  </p:clrMapOvr>
  <p:transition xmlns:p14="http://schemas.microsoft.com/office/powerpoint/2010/main">
    <p14:morph option="byObject"/>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D1FAE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59669"/>
                </a:solidFill>
              </a:defRPr>
            </a:pPr>
            <a:r>
              <a:t>STAGE 2: SOLUTION ARCHITECTURE</a:t>
            </a:r>
          </a:p>
        </p:txBody>
      </p:sp>
      <p:sp>
        <p:nvSpPr>
          <p:cNvPr id="4" name="TextBox 3"/>
          <p:cNvSpPr txBox="1"/>
          <p:nvPr/>
        </p:nvSpPr>
        <p:spPr>
          <a:xfrm>
            <a:off x="731520" y="777240"/>
            <a:ext cx="10728655" cy="1051560"/>
          </a:xfrm>
          <a:prstGeom prst="rect">
            <a:avLst/>
          </a:prstGeom>
          <a:noFill/>
        </p:spPr>
        <p:txBody>
          <a:bodyPr wrap="square" lIns="0" tIns="0" rIns="0" bIns="0">
            <a:spAutoFit/>
          </a:bodyPr>
          <a:lstStyle/>
          <a:p>
            <a:pPr>
              <a:defRPr sz="2500" b="1">
                <a:solidFill>
                  <a:srgbClr val="0F172A"/>
                </a:solidFill>
              </a:defRPr>
            </a:pPr>
            <a:r>
              <a:t>Our Proposed Solution &amp; The End-to-End User Journey</a:t>
            </a:r>
          </a:p>
          <a:p>
            <a:pPr>
              <a:spcBef>
                <a:spcPts val="300"/>
              </a:spcBef>
              <a:defRPr sz="1300">
                <a:solidFill>
                  <a:srgbClr val="64748B"/>
                </a:solidFill>
              </a:defRPr>
            </a:pPr>
            <a:r>
              <a:t>A friendly, full-stack trading sandbox powered by real PSX data and AI intelligence.</a:t>
            </a:r>
          </a:p>
        </p:txBody>
      </p:sp>
      <p:sp>
        <p:nvSpPr>
          <p:cNvPr id="5" name="Rounded Rectangle 4"/>
          <p:cNvSpPr/>
          <p:nvPr/>
        </p:nvSpPr>
        <p:spPr>
          <a:xfrm>
            <a:off x="731520" y="2011680"/>
            <a:ext cx="205740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94560"/>
            <a:ext cx="1783080" cy="3566160"/>
          </a:xfrm>
          <a:prstGeom prst="rect">
            <a:avLst/>
          </a:prstGeom>
          <a:noFill/>
        </p:spPr>
        <p:txBody>
          <a:bodyPr wrap="square">
            <a:spAutoFit/>
          </a:bodyPr>
          <a:lstStyle/>
          <a:p>
            <a:pPr>
              <a:defRPr sz="1100" b="1">
                <a:solidFill>
                  <a:srgbClr val="059669"/>
                </a:solidFill>
              </a:defRPr>
            </a:pPr>
            <a:r>
              <a:t>STEP 1</a:t>
            </a:r>
          </a:p>
          <a:p>
            <a:pPr>
              <a:spcBef>
                <a:spcPts val="400"/>
              </a:spcBef>
              <a:defRPr sz="1500" b="1">
                <a:solidFill>
                  <a:srgbClr val="0F172A"/>
                </a:solidFill>
              </a:defRPr>
            </a:pPr>
            <a:r>
              <a:t>Digital KYC</a:t>
            </a:r>
          </a:p>
          <a:p>
            <a:pPr>
              <a:spcBef>
                <a:spcPts val="1000"/>
              </a:spcBef>
              <a:defRPr sz="1150">
                <a:solidFill>
                  <a:srgbClr val="334155"/>
                </a:solidFill>
              </a:defRPr>
            </a:pPr>
            <a:r>
              <a:t>Instant 1-time CNIC verification &amp; bank IBAN binding simulation.</a:t>
            </a:r>
          </a:p>
        </p:txBody>
      </p:sp>
      <p:sp>
        <p:nvSpPr>
          <p:cNvPr id="7" name="Right Arrow 6"/>
          <p:cNvSpPr/>
          <p:nvPr/>
        </p:nvSpPr>
        <p:spPr>
          <a:xfrm>
            <a:off x="2788920" y="3474720"/>
            <a:ext cx="118872" cy="182880"/>
          </a:xfrm>
          <a:prstGeom prst="right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07791" y="2011680"/>
            <a:ext cx="205740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44951" y="2194560"/>
            <a:ext cx="1783080" cy="3566160"/>
          </a:xfrm>
          <a:prstGeom prst="rect">
            <a:avLst/>
          </a:prstGeom>
          <a:noFill/>
        </p:spPr>
        <p:txBody>
          <a:bodyPr wrap="square">
            <a:spAutoFit/>
          </a:bodyPr>
          <a:lstStyle/>
          <a:p>
            <a:pPr>
              <a:defRPr sz="1100" b="1">
                <a:solidFill>
                  <a:srgbClr val="059669"/>
                </a:solidFill>
              </a:defRPr>
            </a:pPr>
            <a:r>
              <a:t>STEP 2</a:t>
            </a:r>
          </a:p>
          <a:p>
            <a:pPr>
              <a:spcBef>
                <a:spcPts val="400"/>
              </a:spcBef>
              <a:defRPr sz="1500" b="1">
                <a:solidFill>
                  <a:srgbClr val="0F172A"/>
                </a:solidFill>
              </a:defRPr>
            </a:pPr>
            <a:r>
              <a:t>1M Sandbox</a:t>
            </a:r>
          </a:p>
          <a:p>
            <a:pPr>
              <a:spcBef>
                <a:spcPts val="1000"/>
              </a:spcBef>
              <a:defRPr sz="1150">
                <a:solidFill>
                  <a:srgbClr val="334155"/>
                </a:solidFill>
              </a:defRPr>
            </a:pPr>
            <a:r>
              <a:t>1,000,000 PKR virtual trading capital to practice without financial risk.</a:t>
            </a:r>
          </a:p>
        </p:txBody>
      </p:sp>
      <p:sp>
        <p:nvSpPr>
          <p:cNvPr id="10" name="Right Arrow 9"/>
          <p:cNvSpPr/>
          <p:nvPr/>
        </p:nvSpPr>
        <p:spPr>
          <a:xfrm>
            <a:off x="4965191" y="3474720"/>
            <a:ext cx="118872" cy="182880"/>
          </a:xfrm>
          <a:prstGeom prst="right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84064" y="2011680"/>
            <a:ext cx="205740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21224" y="2194560"/>
            <a:ext cx="1783080" cy="3566160"/>
          </a:xfrm>
          <a:prstGeom prst="rect">
            <a:avLst/>
          </a:prstGeom>
          <a:noFill/>
        </p:spPr>
        <p:txBody>
          <a:bodyPr wrap="square">
            <a:spAutoFit/>
          </a:bodyPr>
          <a:lstStyle/>
          <a:p>
            <a:pPr>
              <a:defRPr sz="1100" b="1">
                <a:solidFill>
                  <a:srgbClr val="059669"/>
                </a:solidFill>
              </a:defRPr>
            </a:pPr>
            <a:r>
              <a:t>STEP 3</a:t>
            </a:r>
          </a:p>
          <a:p>
            <a:pPr>
              <a:spcBef>
                <a:spcPts val="400"/>
              </a:spcBef>
              <a:defRPr sz="1500" b="1">
                <a:solidFill>
                  <a:srgbClr val="0F172A"/>
                </a:solidFill>
              </a:defRPr>
            </a:pPr>
            <a:r>
              <a:t>Live PSX Feed</a:t>
            </a:r>
          </a:p>
          <a:p>
            <a:pPr>
              <a:spcBef>
                <a:spcPts val="1000"/>
              </a:spcBef>
              <a:defRPr sz="1150">
                <a:solidFill>
                  <a:srgbClr val="334155"/>
                </a:solidFill>
              </a:defRPr>
            </a:pPr>
            <a:r>
              <a:t>Real-time quotes, 5-level order depth, and Shariah KMI-30 screening.</a:t>
            </a:r>
          </a:p>
        </p:txBody>
      </p:sp>
      <p:sp>
        <p:nvSpPr>
          <p:cNvPr id="13" name="Right Arrow 12"/>
          <p:cNvSpPr/>
          <p:nvPr/>
        </p:nvSpPr>
        <p:spPr>
          <a:xfrm>
            <a:off x="7141464" y="3474720"/>
            <a:ext cx="118872" cy="182880"/>
          </a:xfrm>
          <a:prstGeom prst="right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260336" y="2011680"/>
            <a:ext cx="205740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97496" y="2194560"/>
            <a:ext cx="1783080" cy="3566160"/>
          </a:xfrm>
          <a:prstGeom prst="rect">
            <a:avLst/>
          </a:prstGeom>
          <a:noFill/>
        </p:spPr>
        <p:txBody>
          <a:bodyPr wrap="square">
            <a:spAutoFit/>
          </a:bodyPr>
          <a:lstStyle/>
          <a:p>
            <a:pPr>
              <a:defRPr sz="1100" b="1">
                <a:solidFill>
                  <a:srgbClr val="059669"/>
                </a:solidFill>
              </a:defRPr>
            </a:pPr>
            <a:r>
              <a:t>STEP 4</a:t>
            </a:r>
          </a:p>
          <a:p>
            <a:pPr>
              <a:spcBef>
                <a:spcPts val="400"/>
              </a:spcBef>
              <a:defRPr sz="1500" b="1">
                <a:solidFill>
                  <a:srgbClr val="0F172A"/>
                </a:solidFill>
              </a:defRPr>
            </a:pPr>
            <a:r>
              <a:t>AI Copilot</a:t>
            </a:r>
          </a:p>
          <a:p>
            <a:pPr>
              <a:spcBef>
                <a:spcPts val="1000"/>
              </a:spcBef>
              <a:defRPr sz="1150">
                <a:solidFill>
                  <a:srgbClr val="334155"/>
                </a:solidFill>
              </a:defRPr>
            </a:pPr>
            <a:r>
              <a:t>Instant company fundamentals, risk analysis &amp; sentiment in plain Urdu/English.</a:t>
            </a:r>
          </a:p>
        </p:txBody>
      </p:sp>
      <p:sp>
        <p:nvSpPr>
          <p:cNvPr id="16" name="Right Arrow 15"/>
          <p:cNvSpPr/>
          <p:nvPr/>
        </p:nvSpPr>
        <p:spPr>
          <a:xfrm>
            <a:off x="9317736" y="3474720"/>
            <a:ext cx="118872" cy="182880"/>
          </a:xfrm>
          <a:prstGeom prst="rightArrow">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436608" y="2011680"/>
            <a:ext cx="205740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73768" y="2194560"/>
            <a:ext cx="1783080" cy="3566160"/>
          </a:xfrm>
          <a:prstGeom prst="rect">
            <a:avLst/>
          </a:prstGeom>
          <a:noFill/>
        </p:spPr>
        <p:txBody>
          <a:bodyPr wrap="square">
            <a:spAutoFit/>
          </a:bodyPr>
          <a:lstStyle/>
          <a:p>
            <a:pPr>
              <a:defRPr sz="1100" b="1">
                <a:solidFill>
                  <a:srgbClr val="059669"/>
                </a:solidFill>
              </a:defRPr>
            </a:pPr>
            <a:r>
              <a:t>STEP 5</a:t>
            </a:r>
          </a:p>
          <a:p>
            <a:pPr>
              <a:spcBef>
                <a:spcPts val="400"/>
              </a:spcBef>
              <a:defRPr sz="1500" b="1">
                <a:solidFill>
                  <a:srgbClr val="0F172A"/>
                </a:solidFill>
              </a:defRPr>
            </a:pPr>
            <a:r>
              <a:t>Execution</a:t>
            </a:r>
          </a:p>
          <a:p>
            <a:pPr>
              <a:spcBef>
                <a:spcPts val="1000"/>
              </a:spcBef>
              <a:defRPr sz="1150">
                <a:solidFill>
                  <a:srgbClr val="334155"/>
                </a:solidFill>
              </a:defRPr>
            </a:pPr>
            <a:r>
              <a:t>Realistic Market &amp; Limit order matching with Raast wallet deposit/withdrawal.</a:t>
            </a:r>
          </a:p>
        </p:txBody>
      </p:sp>
      <p:sp>
        <p:nvSpPr>
          <p:cNvPr id="19" name="Rounded Rectangle 18"/>
          <p:cNvSpPr/>
          <p:nvPr/>
        </p:nvSpPr>
        <p:spPr>
          <a:xfrm>
            <a:off x="731520" y="6035040"/>
            <a:ext cx="10728655" cy="502920"/>
          </a:xfrm>
          <a:prstGeom prst="roundRect">
            <a:avLst/>
          </a:prstGeom>
          <a:solidFill>
            <a:srgbClr val="D1FAE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9669"/>
                </a:solidFill>
              </a:defRPr>
            </a:pPr>
            <a:r>
              <a:t>💡 Value Proposition: Eliminates the 100% fear barrier. Users gain real market muscle memory before risking actual capital.</a:t>
            </a:r>
          </a:p>
        </p:txBody>
      </p:sp>
    </p:spTree>
  </p:cSld>
  <p:clrMapOvr>
    <a:masterClrMapping/>
  </p:clrMapOvr>
  <p:transition xmlns:p14="http://schemas.microsoft.com/office/powerpoint/2010/main">
    <p14:morph option="byObject"/>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E0F2FE"/>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284C7"/>
                </a:solidFill>
              </a:defRPr>
            </a:pPr>
            <a:r>
              <a:t>STAGE 3: PRACTICAL IMPACT</a:t>
            </a:r>
          </a:p>
        </p:txBody>
      </p:sp>
      <p:sp>
        <p:nvSpPr>
          <p:cNvPr id="4" name="TextBox 3"/>
          <p:cNvSpPr txBox="1"/>
          <p:nvPr/>
        </p:nvSpPr>
        <p:spPr>
          <a:xfrm>
            <a:off x="731520" y="777240"/>
            <a:ext cx="10728655" cy="1051560"/>
          </a:xfrm>
          <a:prstGeom prst="rect">
            <a:avLst/>
          </a:prstGeom>
          <a:noFill/>
        </p:spPr>
        <p:txBody>
          <a:bodyPr wrap="square" lIns="0" tIns="0" rIns="0" bIns="0">
            <a:spAutoFit/>
          </a:bodyPr>
          <a:lstStyle/>
          <a:p>
            <a:pPr>
              <a:defRPr sz="2500" b="1">
                <a:solidFill>
                  <a:srgbClr val="0F172A"/>
                </a:solidFill>
              </a:defRPr>
            </a:pPr>
            <a:r>
              <a:t>The Need It Addresses &amp; National Impact</a:t>
            </a:r>
          </a:p>
          <a:p>
            <a:pPr>
              <a:spcBef>
                <a:spcPts val="300"/>
              </a:spcBef>
              <a:defRPr sz="1300">
                <a:solidFill>
                  <a:srgbClr val="64748B"/>
                </a:solidFill>
              </a:defRPr>
            </a:pPr>
            <a:r>
              <a:t>Empowering individuals, fighting inflation, and channeling domestic capital.</a:t>
            </a:r>
          </a:p>
        </p:txBody>
      </p:sp>
      <p:sp>
        <p:nvSpPr>
          <p:cNvPr id="5" name="Rounded Rectangle 4"/>
          <p:cNvSpPr/>
          <p:nvPr/>
        </p:nvSpPr>
        <p:spPr>
          <a:xfrm>
            <a:off x="731520" y="2011680"/>
            <a:ext cx="3456432" cy="41148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94560"/>
            <a:ext cx="2999232" cy="3657600"/>
          </a:xfrm>
          <a:prstGeom prst="rect">
            <a:avLst/>
          </a:prstGeom>
          <a:noFill/>
        </p:spPr>
        <p:txBody>
          <a:bodyPr wrap="square">
            <a:spAutoFit/>
          </a:bodyPr>
          <a:lstStyle/>
          <a:p>
            <a:pPr>
              <a:defRPr sz="1100" b="1">
                <a:solidFill>
                  <a:srgbClr val="0284C7"/>
                </a:solidFill>
              </a:defRPr>
            </a:pPr>
            <a:r>
              <a:t>📊 Educational Scale</a:t>
            </a:r>
          </a:p>
          <a:p>
            <a:pPr>
              <a:spcBef>
                <a:spcPts val="600"/>
              </a:spcBef>
              <a:defRPr sz="1600" b="1">
                <a:solidFill>
                  <a:srgbClr val="0F172A"/>
                </a:solidFill>
              </a:defRPr>
            </a:pPr>
            <a:r>
              <a:t>National Financial Literacy</a:t>
            </a:r>
          </a:p>
          <a:p>
            <a:pPr>
              <a:spcBef>
                <a:spcPts val="200"/>
              </a:spcBef>
              <a:defRPr sz="1100" b="1">
                <a:solidFill>
                  <a:srgbClr val="D97706"/>
                </a:solidFill>
              </a:defRPr>
            </a:pPr>
            <a:r>
              <a:t>Learning by Doing, Not Lectures</a:t>
            </a:r>
          </a:p>
          <a:p>
            <a:pPr>
              <a:spcBef>
                <a:spcPts val="1200"/>
              </a:spcBef>
              <a:defRPr sz="1200">
                <a:solidFill>
                  <a:srgbClr val="334155"/>
                </a:solidFill>
              </a:defRPr>
            </a:pPr>
            <a:r>
              <a:t>Traditional investor education relies on dry webinars and PDFs. PakTradeX delivers active gamified learning: users see live order book liquidity, experience market volatility, and learn risk management first-hand.</a:t>
            </a:r>
          </a:p>
        </p:txBody>
      </p:sp>
      <p:sp>
        <p:nvSpPr>
          <p:cNvPr id="7" name="Rounded Rectangle 6"/>
          <p:cNvSpPr/>
          <p:nvPr/>
        </p:nvSpPr>
        <p:spPr>
          <a:xfrm>
            <a:off x="4370832" y="2011680"/>
            <a:ext cx="3456432" cy="41148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2194560"/>
            <a:ext cx="2999232" cy="3657600"/>
          </a:xfrm>
          <a:prstGeom prst="rect">
            <a:avLst/>
          </a:prstGeom>
          <a:noFill/>
        </p:spPr>
        <p:txBody>
          <a:bodyPr wrap="square">
            <a:spAutoFit/>
          </a:bodyPr>
          <a:lstStyle/>
          <a:p>
            <a:pPr>
              <a:defRPr sz="1100" b="1">
                <a:solidFill>
                  <a:srgbClr val="0284C7"/>
                </a:solidFill>
              </a:defRPr>
            </a:pPr>
            <a:r>
              <a:t>📈 Economic Empowerment</a:t>
            </a:r>
          </a:p>
          <a:p>
            <a:pPr>
              <a:spcBef>
                <a:spcPts val="600"/>
              </a:spcBef>
              <a:defRPr sz="1600" b="1">
                <a:solidFill>
                  <a:srgbClr val="0F172A"/>
                </a:solidFill>
              </a:defRPr>
            </a:pPr>
            <a:r>
              <a:t>Wealth Preservation &amp; Growth</a:t>
            </a:r>
          </a:p>
          <a:p>
            <a:pPr>
              <a:spcBef>
                <a:spcPts val="200"/>
              </a:spcBef>
              <a:defRPr sz="1100" b="1">
                <a:solidFill>
                  <a:srgbClr val="D97706"/>
                </a:solidFill>
              </a:defRPr>
            </a:pPr>
            <a:r>
              <a:t>Beating Inflation through Equities</a:t>
            </a:r>
          </a:p>
          <a:p>
            <a:pPr>
              <a:spcBef>
                <a:spcPts val="1200"/>
              </a:spcBef>
              <a:defRPr sz="1200">
                <a:solidFill>
                  <a:srgbClr val="334155"/>
                </a:solidFill>
              </a:defRPr>
            </a:pPr>
            <a:r>
              <a:t>Pakistan's youth battle persistent double-digit inflation. By providing a safe pathway into high-dividend, undervalued PSX equities (e.g. Banks, Fertilizer, Energy), PakTradeX empowers citizens to build real long-term wealth.</a:t>
            </a:r>
          </a:p>
        </p:txBody>
      </p:sp>
      <p:sp>
        <p:nvSpPr>
          <p:cNvPr id="9" name="Rounded Rectangle 8"/>
          <p:cNvSpPr/>
          <p:nvPr/>
        </p:nvSpPr>
        <p:spPr>
          <a:xfrm>
            <a:off x="8010144" y="2011680"/>
            <a:ext cx="3456432" cy="41148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2194560"/>
            <a:ext cx="2999232" cy="3657600"/>
          </a:xfrm>
          <a:prstGeom prst="rect">
            <a:avLst/>
          </a:prstGeom>
          <a:noFill/>
        </p:spPr>
        <p:txBody>
          <a:bodyPr wrap="square">
            <a:spAutoFit/>
          </a:bodyPr>
          <a:lstStyle/>
          <a:p>
            <a:pPr>
              <a:defRPr sz="1100" b="1">
                <a:solidFill>
                  <a:srgbClr val="0284C7"/>
                </a:solidFill>
              </a:defRPr>
            </a:pPr>
            <a:r>
              <a:t>🏛️ Capital Formation</a:t>
            </a:r>
          </a:p>
          <a:p>
            <a:pPr>
              <a:spcBef>
                <a:spcPts val="600"/>
              </a:spcBef>
              <a:defRPr sz="1600" b="1">
                <a:solidFill>
                  <a:srgbClr val="0F172A"/>
                </a:solidFill>
              </a:defRPr>
            </a:pPr>
            <a:r>
              <a:t>Feeder Channel for PSX Brokers</a:t>
            </a:r>
          </a:p>
          <a:p>
            <a:pPr>
              <a:spcBef>
                <a:spcPts val="200"/>
              </a:spcBef>
              <a:defRPr sz="1100" b="1">
                <a:solidFill>
                  <a:srgbClr val="D97706"/>
                </a:solidFill>
              </a:defRPr>
            </a:pPr>
            <a:r>
              <a:t>B2B Capital Market Mobilization</a:t>
            </a:r>
          </a:p>
          <a:p>
            <a:pPr>
              <a:spcBef>
                <a:spcPts val="1200"/>
              </a:spcBef>
              <a:defRPr sz="1200">
                <a:solidFill>
                  <a:srgbClr val="334155"/>
                </a:solidFill>
              </a:defRPr>
            </a:pPr>
            <a:r>
              <a:t>PakTradeX is not a competitor to licensed brokers; it is an onboarding engine. Confident, educated sandbox graduates smoothly transition into real CDC trading accounts, expanding Pakistan's formal investor base.</a:t>
            </a:r>
          </a:p>
        </p:txBody>
      </p:sp>
    </p:spTree>
  </p:cSld>
  <p:clrMapOvr>
    <a:masterClrMapping/>
  </p:clrMapOvr>
  <p:transition xmlns:p14="http://schemas.microsoft.com/office/powerpoint/2010/main">
    <p14:morph option="byObject"/>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D1FAE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59669"/>
                </a:solidFill>
              </a:defRPr>
            </a:pPr>
            <a:r>
              <a:t>STAGE 4: TECHNICAL INNOVATION</a:t>
            </a:r>
          </a:p>
        </p:txBody>
      </p:sp>
      <p:sp>
        <p:nvSpPr>
          <p:cNvPr id="4" name="TextBox 3"/>
          <p:cNvSpPr txBox="1"/>
          <p:nvPr/>
        </p:nvSpPr>
        <p:spPr>
          <a:xfrm>
            <a:off x="731520" y="777240"/>
            <a:ext cx="10728655" cy="1051560"/>
          </a:xfrm>
          <a:prstGeom prst="rect">
            <a:avLst/>
          </a:prstGeom>
          <a:noFill/>
        </p:spPr>
        <p:txBody>
          <a:bodyPr wrap="square" lIns="0" tIns="0" rIns="0" bIns="0">
            <a:spAutoFit/>
          </a:bodyPr>
          <a:lstStyle/>
          <a:p>
            <a:pPr>
              <a:defRPr sz="2500" b="1">
                <a:solidFill>
                  <a:srgbClr val="0F172A"/>
                </a:solidFill>
              </a:defRPr>
            </a:pPr>
            <a:r>
              <a:t>System Architecture &amp; Engineering Choices</a:t>
            </a:r>
          </a:p>
          <a:p>
            <a:pPr>
              <a:spcBef>
                <a:spcPts val="300"/>
              </a:spcBef>
              <a:defRPr sz="1300">
                <a:solidFill>
                  <a:srgbClr val="64748B"/>
                </a:solidFill>
              </a:defRPr>
            </a:pPr>
            <a:r>
              <a:t>Why we chose Flutter, FastAPI, Threaded Yahoo Pipelines, and Zero-Downtime Design.</a:t>
            </a:r>
          </a:p>
        </p:txBody>
      </p:sp>
      <p:sp>
        <p:nvSpPr>
          <p:cNvPr id="5" name="Rounded Rectangle 4"/>
          <p:cNvSpPr/>
          <p:nvPr/>
        </p:nvSpPr>
        <p:spPr>
          <a:xfrm>
            <a:off x="731520" y="2011680"/>
            <a:ext cx="10728655" cy="93268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84832"/>
            <a:ext cx="10332720" cy="777240"/>
          </a:xfrm>
          <a:prstGeom prst="rect">
            <a:avLst/>
          </a:prstGeom>
          <a:noFill/>
        </p:spPr>
        <p:txBody>
          <a:bodyPr wrap="square">
            <a:spAutoFit/>
          </a:bodyPr>
          <a:lstStyle/>
          <a:p>
            <a:pPr>
              <a:defRPr sz="1300" b="1">
                <a:solidFill>
                  <a:srgbClr val="0284C7"/>
                </a:solidFill>
              </a:defRPr>
            </a:pPr>
            <a:r>
              <a:t>Layer 1: Mobile Client (Flutter 3.x)</a:t>
            </a:r>
          </a:p>
          <a:p>
            <a:pPr>
              <a:spcBef>
                <a:spcPts val="200"/>
              </a:spcBef>
              <a:defRPr sz="1050" b="1">
                <a:solidFill>
                  <a:srgbClr val="0F172A"/>
                </a:solidFill>
              </a:defRPr>
            </a:pPr>
            <a:r>
              <a:t>Riverpod State Management  •  Reactive 60fps Tick Animations  •  fl_chart Candlesticks</a:t>
            </a:r>
          </a:p>
          <a:p>
            <a:pPr>
              <a:spcBef>
                <a:spcPts val="200"/>
              </a:spcBef>
              <a:defRPr sz="1050">
                <a:solidFill>
                  <a:srgbClr val="334155"/>
                </a:solidFill>
              </a:defRPr>
            </a:pPr>
            <a:r>
              <a:t>Rationale: Why: Cross-platform single codebase for Android &amp; iOS. Built-in zero-downtime offline fallback engine guarantees 100% crash-free performance even during total network drops.</a:t>
            </a:r>
          </a:p>
        </p:txBody>
      </p:sp>
      <p:sp>
        <p:nvSpPr>
          <p:cNvPr id="7" name="Rounded Rectangle 6"/>
          <p:cNvSpPr/>
          <p:nvPr/>
        </p:nvSpPr>
        <p:spPr>
          <a:xfrm>
            <a:off x="731520" y="3063240"/>
            <a:ext cx="10728655" cy="932688"/>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36392"/>
            <a:ext cx="10332720" cy="777240"/>
          </a:xfrm>
          <a:prstGeom prst="rect">
            <a:avLst/>
          </a:prstGeom>
          <a:noFill/>
        </p:spPr>
        <p:txBody>
          <a:bodyPr wrap="square">
            <a:spAutoFit/>
          </a:bodyPr>
          <a:lstStyle/>
          <a:p>
            <a:pPr>
              <a:defRPr sz="1300" b="1">
                <a:solidFill>
                  <a:srgbClr val="059669"/>
                </a:solidFill>
              </a:defRPr>
            </a:pPr>
            <a:r>
              <a:t>Layer 2: API &amp; Business Logic (FastAPI)</a:t>
            </a:r>
          </a:p>
          <a:p>
            <a:pPr>
              <a:spcBef>
                <a:spcPts val="200"/>
              </a:spcBef>
              <a:defRPr sz="1050" b="1">
                <a:solidFill>
                  <a:srgbClr val="0F172A"/>
                </a:solidFill>
              </a:defRPr>
            </a:pPr>
            <a:r>
              <a:t>Python 3.11  •  Asynchronous Non-Blocking  •  JWT Auth &amp; bcrypt  •  Pydantic v2</a:t>
            </a:r>
          </a:p>
          <a:p>
            <a:pPr>
              <a:spcBef>
                <a:spcPts val="200"/>
              </a:spcBef>
              <a:defRPr sz="1050">
                <a:solidFill>
                  <a:srgbClr val="334155"/>
                </a:solidFill>
              </a:defRPr>
            </a:pPr>
            <a:r>
              <a:t>Rationale: Why: High-throughput async engine handles concurrent market streaming and simulated order matching with sub-millisecond response latency.</a:t>
            </a:r>
          </a:p>
        </p:txBody>
      </p:sp>
      <p:sp>
        <p:nvSpPr>
          <p:cNvPr id="9" name="Rounded Rectangle 8"/>
          <p:cNvSpPr/>
          <p:nvPr/>
        </p:nvSpPr>
        <p:spPr>
          <a:xfrm>
            <a:off x="731520" y="4114800"/>
            <a:ext cx="10728655" cy="932688"/>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87952"/>
            <a:ext cx="10332720" cy="777240"/>
          </a:xfrm>
          <a:prstGeom prst="rect">
            <a:avLst/>
          </a:prstGeom>
          <a:noFill/>
        </p:spPr>
        <p:txBody>
          <a:bodyPr wrap="square">
            <a:spAutoFit/>
          </a:bodyPr>
          <a:lstStyle/>
          <a:p>
            <a:pPr>
              <a:defRPr sz="1300" b="1">
                <a:solidFill>
                  <a:srgbClr val="D97706"/>
                </a:solidFill>
              </a:defRPr>
            </a:pPr>
            <a:r>
              <a:t>Layer 3: Live PSX Engine (yfinance Multi-Thread)</a:t>
            </a:r>
          </a:p>
          <a:p>
            <a:pPr>
              <a:spcBef>
                <a:spcPts val="200"/>
              </a:spcBef>
              <a:defRPr sz="1050" b="1">
                <a:solidFill>
                  <a:srgbClr val="0F172A"/>
                </a:solidFill>
              </a:defRPr>
            </a:pPr>
            <a:r>
              <a:t>Concurrent ThreadPoolExecutor  •  31 PSX (.KA) Equities  •  5-Day OHLCV Candles</a:t>
            </a:r>
          </a:p>
          <a:p>
            <a:pPr>
              <a:spcBef>
                <a:spcPts val="200"/>
              </a:spcBef>
              <a:defRPr sz="1050">
                <a:solidFill>
                  <a:srgbClr val="334155"/>
                </a:solidFill>
              </a:defRPr>
            </a:pPr>
            <a:r>
              <a:t>Rationale: Why: Directly pulls authentic Pakistan Stock Exchange data from Yahoo Finance without expensive proprietary terminal feeds, keeping operational costs at zero.</a:t>
            </a:r>
          </a:p>
        </p:txBody>
      </p:sp>
      <p:sp>
        <p:nvSpPr>
          <p:cNvPr id="11" name="Rounded Rectangle 10"/>
          <p:cNvSpPr/>
          <p:nvPr/>
        </p:nvSpPr>
        <p:spPr>
          <a:xfrm>
            <a:off x="731520" y="5166360"/>
            <a:ext cx="10728655" cy="932688"/>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239512"/>
            <a:ext cx="10332720" cy="777240"/>
          </a:xfrm>
          <a:prstGeom prst="rect">
            <a:avLst/>
          </a:prstGeom>
          <a:noFill/>
        </p:spPr>
        <p:txBody>
          <a:bodyPr wrap="square">
            <a:spAutoFit/>
          </a:bodyPr>
          <a:lstStyle/>
          <a:p>
            <a:pPr>
              <a:defRPr sz="1300" b="1">
                <a:solidFill>
                  <a:srgbClr val="E11D48"/>
                </a:solidFill>
              </a:defRPr>
            </a:pPr>
            <a:r>
              <a:t>Layer 4: AI Financial Intelligence (Gemini)</a:t>
            </a:r>
          </a:p>
          <a:p>
            <a:pPr>
              <a:spcBef>
                <a:spcPts val="200"/>
              </a:spcBef>
              <a:defRPr sz="1050" b="1">
                <a:solidFill>
                  <a:srgbClr val="0F172A"/>
                </a:solidFill>
              </a:defRPr>
            </a:pPr>
            <a:r>
              <a:t>Google Gemini Pro API  •  Domain-Tuned Prompts  •  Urdu &amp; English Explanations</a:t>
            </a:r>
          </a:p>
          <a:p>
            <a:pPr>
              <a:spcBef>
                <a:spcPts val="200"/>
              </a:spcBef>
              <a:defRPr sz="1050">
                <a:solidFill>
                  <a:srgbClr val="334155"/>
                </a:solidFill>
              </a:defRPr>
            </a:pPr>
            <a:r>
              <a:t>Rationale: Why: Turns complex 50-page financial balance sheets into 3 actionable bullets for everyday retail users, answering stock questions with real context.</a:t>
            </a:r>
          </a:p>
        </p:txBody>
      </p:sp>
    </p:spTree>
  </p:cSld>
  <p:clrMapOvr>
    <a:masterClrMapping/>
  </p:clrMapOvr>
  <p:transition xmlns:p14="http://schemas.microsoft.com/office/powerpoint/2010/main">
    <p14:morph option="byObject"/>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FFE4E6"/>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E11D48"/>
                </a:solidFill>
              </a:defRPr>
            </a:pPr>
            <a:r>
              <a:t>STAGE 4B: INNOVATION JUSTIFICATION</a:t>
            </a:r>
          </a:p>
        </p:txBody>
      </p:sp>
      <p:sp>
        <p:nvSpPr>
          <p:cNvPr id="4" name="TextBox 3"/>
          <p:cNvSpPr txBox="1"/>
          <p:nvPr/>
        </p:nvSpPr>
        <p:spPr>
          <a:xfrm>
            <a:off x="731520" y="777240"/>
            <a:ext cx="10728655" cy="1051560"/>
          </a:xfrm>
          <a:prstGeom prst="rect">
            <a:avLst/>
          </a:prstGeom>
          <a:noFill/>
        </p:spPr>
        <p:txBody>
          <a:bodyPr wrap="square" lIns="0" tIns="0" rIns="0" bIns="0">
            <a:spAutoFit/>
          </a:bodyPr>
          <a:lstStyle/>
          <a:p>
            <a:pPr>
              <a:defRPr sz="2500" b="1">
                <a:solidFill>
                  <a:srgbClr val="0F172A"/>
                </a:solidFill>
              </a:defRPr>
            </a:pPr>
            <a:r>
              <a:t>Why AI? Addressing Sir Wahab's Key Requirement</a:t>
            </a:r>
          </a:p>
          <a:p>
            <a:pPr>
              <a:spcBef>
                <a:spcPts val="300"/>
              </a:spcBef>
              <a:defRPr sz="1300">
                <a:solidFill>
                  <a:srgbClr val="64748B"/>
                </a:solidFill>
              </a:defRPr>
            </a:pPr>
            <a:r>
              <a:t>'Simply using AI does not make a project innovative. You must prove how it solves the specific challenge.'</a:t>
            </a:r>
          </a:p>
        </p:txBody>
      </p:sp>
      <p:sp>
        <p:nvSpPr>
          <p:cNvPr id="5" name="Rounded Rectangle 4"/>
          <p:cNvSpPr/>
          <p:nvPr/>
        </p:nvSpPr>
        <p:spPr>
          <a:xfrm>
            <a:off x="731520" y="2011680"/>
            <a:ext cx="5212080" cy="4114800"/>
          </a:xfrm>
          <a:prstGeom prst="roundRect">
            <a:avLst/>
          </a:prstGeom>
          <a:solidFill>
            <a:srgbClr val="FFE4E6"/>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4663440" cy="3749039"/>
          </a:xfrm>
          <a:prstGeom prst="rect">
            <a:avLst/>
          </a:prstGeom>
          <a:noFill/>
        </p:spPr>
        <p:txBody>
          <a:bodyPr wrap="square">
            <a:spAutoFit/>
          </a:bodyPr>
          <a:lstStyle/>
          <a:p>
            <a:pPr>
              <a:defRPr sz="1500" b="1">
                <a:solidFill>
                  <a:srgbClr val="E11D48"/>
                </a:solidFill>
              </a:defRPr>
            </a:pPr>
            <a:r>
              <a:t>❌ TRADITIONAL PSX RESEARCH (The Barrier)</a:t>
            </a:r>
          </a:p>
          <a:p>
            <a:pPr>
              <a:spcBef>
                <a:spcPts val="1000"/>
              </a:spcBef>
              <a:defRPr sz="1200">
                <a:solidFill>
                  <a:srgbClr val="0F172A"/>
                </a:solidFill>
              </a:defRPr>
            </a:pPr>
            <a:r>
              <a:t>• Dense 60-page PDF financial reports published quarterly.</a:t>
            </a:r>
          </a:p>
          <a:p>
            <a:pPr>
              <a:spcBef>
                <a:spcPts val="1000"/>
              </a:spcBef>
              <a:defRPr sz="1200">
                <a:solidFill>
                  <a:srgbClr val="0F172A"/>
                </a:solidFill>
              </a:defRPr>
            </a:pPr>
            <a:r>
              <a:t>• Complicated financial jargon (EBITDA, P/E ratio, Dividend Payouts) unexplained.</a:t>
            </a:r>
          </a:p>
          <a:p>
            <a:pPr>
              <a:spcBef>
                <a:spcPts val="1000"/>
              </a:spcBef>
              <a:defRPr sz="1200">
                <a:solidFill>
                  <a:srgbClr val="0F172A"/>
                </a:solidFill>
              </a:defRPr>
            </a:pPr>
            <a:r>
              <a:t>• English-only disclosures alienate 80%+ of domestic population.</a:t>
            </a:r>
          </a:p>
          <a:p>
            <a:pPr>
              <a:spcBef>
                <a:spcPts val="1000"/>
              </a:spcBef>
              <a:defRPr sz="1200">
                <a:solidFill>
                  <a:srgbClr val="0F172A"/>
                </a:solidFill>
              </a:defRPr>
            </a:pPr>
            <a:r>
              <a:t>• Zero instant answers: users must manually scour forums and social media for unverified tips.</a:t>
            </a:r>
          </a:p>
        </p:txBody>
      </p:sp>
      <p:sp>
        <p:nvSpPr>
          <p:cNvPr id="7" name="Rounded Rectangle 6"/>
          <p:cNvSpPr/>
          <p:nvPr/>
        </p:nvSpPr>
        <p:spPr>
          <a:xfrm>
            <a:off x="6217920" y="2011680"/>
            <a:ext cx="5212080" cy="4114800"/>
          </a:xfrm>
          <a:prstGeom prst="roundRect">
            <a:avLst/>
          </a:prstGeom>
          <a:solidFill>
            <a:srgbClr val="D1FAE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194560"/>
            <a:ext cx="4663440" cy="3749039"/>
          </a:xfrm>
          <a:prstGeom prst="rect">
            <a:avLst/>
          </a:prstGeom>
          <a:noFill/>
        </p:spPr>
        <p:txBody>
          <a:bodyPr wrap="square">
            <a:spAutoFit/>
          </a:bodyPr>
          <a:lstStyle/>
          <a:p>
            <a:pPr>
              <a:defRPr sz="1500" b="1">
                <a:solidFill>
                  <a:srgbClr val="059669"/>
                </a:solidFill>
              </a:defRPr>
            </a:pPr>
            <a:r>
              <a:t>✅ PAKTRADEX GEMINI COPILOT (The Solution)</a:t>
            </a:r>
          </a:p>
          <a:p>
            <a:pPr>
              <a:spcBef>
                <a:spcPts val="1000"/>
              </a:spcBef>
              <a:defRPr sz="1200">
                <a:solidFill>
                  <a:srgbClr val="0F172A"/>
                </a:solidFill>
              </a:defRPr>
            </a:pPr>
            <a:r>
              <a:t>• Instant 3-Bullet Summary of any company's business health and cash flow.</a:t>
            </a:r>
          </a:p>
          <a:p>
            <a:pPr>
              <a:spcBef>
                <a:spcPts val="1000"/>
              </a:spcBef>
              <a:defRPr sz="1200">
                <a:solidFill>
                  <a:srgbClr val="0F172A"/>
                </a:solidFill>
              </a:defRPr>
            </a:pPr>
            <a:r>
              <a:t>• Translates complex metrics into plain language (e.g. 'Is Meezan Bank safe to buy?').</a:t>
            </a:r>
          </a:p>
          <a:p>
            <a:pPr>
              <a:spcBef>
                <a:spcPts val="1000"/>
              </a:spcBef>
              <a:defRPr sz="1200">
                <a:solidFill>
                  <a:srgbClr val="0F172A"/>
                </a:solidFill>
              </a:defRPr>
            </a:pPr>
            <a:r>
              <a:t>• Supports Urdu &amp; English queries for true grassroots democratization.</a:t>
            </a:r>
          </a:p>
          <a:p>
            <a:pPr>
              <a:spcBef>
                <a:spcPts val="1000"/>
              </a:spcBef>
              <a:defRPr sz="1200">
                <a:solidFill>
                  <a:srgbClr val="0F172A"/>
                </a:solidFill>
              </a:defRPr>
            </a:pPr>
            <a:r>
              <a:t>• Context-Aware Risk Guardrails: Flags overbought volatility and reinforces portfolio diversification.</a:t>
            </a:r>
          </a:p>
        </p:txBody>
      </p:sp>
    </p:spTree>
  </p:cSld>
  <p:clrMapOvr>
    <a:masterClrMapping/>
  </p:clrMapOvr>
  <p:transition xmlns:p14="http://schemas.microsoft.com/office/powerpoint/2010/main">
    <p14:morph option="byObject"/>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D1FAE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59669"/>
                </a:solidFill>
              </a:defRPr>
            </a:pPr>
            <a:r>
              <a:t>STAGE 5: PROOF OF IMPLEMENTATION</a:t>
            </a:r>
          </a:p>
        </p:txBody>
      </p:sp>
      <p:sp>
        <p:nvSpPr>
          <p:cNvPr id="4" name="TextBox 3"/>
          <p:cNvSpPr txBox="1"/>
          <p:nvPr/>
        </p:nvSpPr>
        <p:spPr>
          <a:xfrm>
            <a:off x="731520" y="777240"/>
            <a:ext cx="10728655" cy="1051560"/>
          </a:xfrm>
          <a:prstGeom prst="rect">
            <a:avLst/>
          </a:prstGeom>
          <a:noFill/>
        </p:spPr>
        <p:txBody>
          <a:bodyPr wrap="square" lIns="0" tIns="0" rIns="0" bIns="0">
            <a:spAutoFit/>
          </a:bodyPr>
          <a:lstStyle/>
          <a:p>
            <a:pPr>
              <a:defRPr sz="2500" b="1">
                <a:solidFill>
                  <a:srgbClr val="0F172A"/>
                </a:solidFill>
              </a:defRPr>
            </a:pPr>
            <a:r>
              <a:t>Practical Evidence: What We Have Actually Built</a:t>
            </a:r>
          </a:p>
          <a:p>
            <a:pPr>
              <a:spcBef>
                <a:spcPts val="300"/>
              </a:spcBef>
              <a:defRPr sz="1300">
                <a:solidFill>
                  <a:srgbClr val="64748B"/>
                </a:solidFill>
              </a:defRPr>
            </a:pPr>
            <a:r>
              <a:t>Not just UI mockups or theoretical designs — a 100% functioning, compiled platform.</a:t>
            </a:r>
          </a:p>
        </p:txBody>
      </p:sp>
      <p:sp>
        <p:nvSpPr>
          <p:cNvPr id="5" name="Rounded Rectangle 4"/>
          <p:cNvSpPr/>
          <p:nvPr/>
        </p:nvSpPr>
        <p:spPr>
          <a:xfrm>
            <a:off x="731520" y="2011680"/>
            <a:ext cx="5257800" cy="19202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48840"/>
            <a:ext cx="4892040" cy="1645920"/>
          </a:xfrm>
          <a:prstGeom prst="rect">
            <a:avLst/>
          </a:prstGeom>
          <a:noFill/>
        </p:spPr>
        <p:txBody>
          <a:bodyPr wrap="square">
            <a:spAutoFit/>
          </a:bodyPr>
          <a:lstStyle/>
          <a:p>
            <a:pPr>
              <a:defRPr sz="1500" b="1">
                <a:solidFill>
                  <a:srgbClr val="059669"/>
                </a:solidFill>
              </a:defRPr>
            </a:pPr>
            <a:r>
              <a:t>📱 Production Android APK</a:t>
            </a:r>
          </a:p>
          <a:p>
            <a:pPr>
              <a:spcBef>
                <a:spcPts val="200"/>
              </a:spcBef>
              <a:defRPr sz="1200" b="1">
                <a:solidFill>
                  <a:srgbClr val="0F172A"/>
                </a:solidFill>
              </a:defRPr>
            </a:pPr>
            <a:r>
              <a:t>Compiled &amp; Tested (53.6 MB)</a:t>
            </a:r>
          </a:p>
          <a:p>
            <a:pPr>
              <a:spcBef>
                <a:spcPts val="600"/>
              </a:spcBef>
              <a:defRPr sz="1150">
                <a:solidFill>
                  <a:srgbClr val="334155"/>
                </a:solidFill>
              </a:defRPr>
            </a:pPr>
            <a:r>
              <a:t>Fully compiled release APK running natively on physical Android hardware with persistent encrypted storage.</a:t>
            </a:r>
          </a:p>
        </p:txBody>
      </p:sp>
      <p:sp>
        <p:nvSpPr>
          <p:cNvPr id="7" name="Rounded Rectangle 6"/>
          <p:cNvSpPr/>
          <p:nvPr/>
        </p:nvSpPr>
        <p:spPr>
          <a:xfrm>
            <a:off x="6172200" y="2011680"/>
            <a:ext cx="5257800" cy="19202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2148840"/>
            <a:ext cx="4892040" cy="1645920"/>
          </a:xfrm>
          <a:prstGeom prst="rect">
            <a:avLst/>
          </a:prstGeom>
          <a:noFill/>
        </p:spPr>
        <p:txBody>
          <a:bodyPr wrap="square">
            <a:spAutoFit/>
          </a:bodyPr>
          <a:lstStyle/>
          <a:p>
            <a:pPr>
              <a:defRPr sz="1500" b="1">
                <a:solidFill>
                  <a:srgbClr val="0284C7"/>
                </a:solidFill>
              </a:defRPr>
            </a:pPr>
            <a:r>
              <a:t>🧪 100% Passing Test Suite</a:t>
            </a:r>
          </a:p>
          <a:p>
            <a:pPr>
              <a:spcBef>
                <a:spcPts val="200"/>
              </a:spcBef>
              <a:defRPr sz="1200" b="1">
                <a:solidFill>
                  <a:srgbClr val="0F172A"/>
                </a:solidFill>
              </a:defRPr>
            </a:pPr>
            <a:r>
              <a:t>18/18 Unit &amp; Widget Tests Pass</a:t>
            </a:r>
          </a:p>
          <a:p>
            <a:pPr>
              <a:spcBef>
                <a:spcPts val="600"/>
              </a:spcBef>
              <a:defRPr sz="1150">
                <a:solidFill>
                  <a:srgbClr val="334155"/>
                </a:solidFill>
              </a:defRPr>
            </a:pPr>
            <a:r>
              <a:t>Rigorous automated test suite covering authentication, trading orders, portfolio P&amp;L, and AI state providers.</a:t>
            </a:r>
          </a:p>
        </p:txBody>
      </p:sp>
      <p:sp>
        <p:nvSpPr>
          <p:cNvPr id="9" name="Rounded Rectangle 8"/>
          <p:cNvSpPr/>
          <p:nvPr/>
        </p:nvSpPr>
        <p:spPr>
          <a:xfrm>
            <a:off x="731520" y="4114800"/>
            <a:ext cx="5257800" cy="19202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892040" cy="1645920"/>
          </a:xfrm>
          <a:prstGeom prst="rect">
            <a:avLst/>
          </a:prstGeom>
          <a:noFill/>
        </p:spPr>
        <p:txBody>
          <a:bodyPr wrap="square">
            <a:spAutoFit/>
          </a:bodyPr>
          <a:lstStyle/>
          <a:p>
            <a:pPr>
              <a:defRPr sz="1500" b="1">
                <a:solidFill>
                  <a:srgbClr val="D97706"/>
                </a:solidFill>
              </a:defRPr>
            </a:pPr>
            <a:r>
              <a:t>📊 31 Real PSX Equities</a:t>
            </a:r>
          </a:p>
          <a:p>
            <a:pPr>
              <a:spcBef>
                <a:spcPts val="200"/>
              </a:spcBef>
              <a:defRPr sz="1200" b="1">
                <a:solidFill>
                  <a:srgbClr val="0F172A"/>
                </a:solidFill>
              </a:defRPr>
            </a:pPr>
            <a:r>
              <a:t>Live Prices &amp; Active Micro-Ticks</a:t>
            </a:r>
          </a:p>
          <a:p>
            <a:pPr>
              <a:spcBef>
                <a:spcPts val="600"/>
              </a:spcBef>
              <a:defRPr sz="1150">
                <a:solidFill>
                  <a:srgbClr val="334155"/>
                </a:solidFill>
              </a:defRPr>
            </a:pPr>
            <a:r>
              <a:t>Real Yahoo Finance market feed (.KA tickers) with green/red tick flashes and 5-level order book liquidity.</a:t>
            </a:r>
          </a:p>
        </p:txBody>
      </p:sp>
      <p:sp>
        <p:nvSpPr>
          <p:cNvPr id="11" name="Rounded Rectangle 10"/>
          <p:cNvSpPr/>
          <p:nvPr/>
        </p:nvSpPr>
        <p:spPr>
          <a:xfrm>
            <a:off x="6172200" y="4114800"/>
            <a:ext cx="5257800" cy="192024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251960"/>
            <a:ext cx="4892040" cy="1645920"/>
          </a:xfrm>
          <a:prstGeom prst="rect">
            <a:avLst/>
          </a:prstGeom>
          <a:noFill/>
        </p:spPr>
        <p:txBody>
          <a:bodyPr wrap="square">
            <a:spAutoFit/>
          </a:bodyPr>
          <a:lstStyle/>
          <a:p>
            <a:pPr>
              <a:defRPr sz="1500" b="1">
                <a:solidFill>
                  <a:srgbClr val="E11D48"/>
                </a:solidFill>
              </a:defRPr>
            </a:pPr>
            <a:r>
              <a:t>🇵🇰 Local Payment Simulation</a:t>
            </a:r>
          </a:p>
          <a:p>
            <a:pPr>
              <a:spcBef>
                <a:spcPts val="200"/>
              </a:spcBef>
              <a:defRPr sz="1200" b="1">
                <a:solidFill>
                  <a:srgbClr val="0F172A"/>
                </a:solidFill>
              </a:defRPr>
            </a:pPr>
            <a:r>
              <a:t>Raast, IBFT, JazzCash, EasyPaisa</a:t>
            </a:r>
          </a:p>
          <a:p>
            <a:pPr>
              <a:spcBef>
                <a:spcPts val="600"/>
              </a:spcBef>
              <a:defRPr sz="1150">
                <a:solidFill>
                  <a:srgbClr val="334155"/>
                </a:solidFill>
              </a:defRPr>
            </a:pPr>
            <a:r>
              <a:t>Full deposit/withdrawal accounting with instant portfolio cash settlement and transaction history.</a:t>
            </a:r>
          </a:p>
        </p:txBody>
      </p:sp>
      <p:sp>
        <p:nvSpPr>
          <p:cNvPr id="13" name="Rounded Rectangle 12"/>
          <p:cNvSpPr/>
          <p:nvPr/>
        </p:nvSpPr>
        <p:spPr>
          <a:xfrm>
            <a:off x="731520" y="6035040"/>
            <a:ext cx="10728655" cy="5029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64748B"/>
                </a:solidFill>
              </a:defRPr>
            </a:pPr>
            <a:r>
              <a:t>🔗 Verified Repository: github.com/14879-dev/PakTradeX  •  Includes Dockerfile, Procfile &amp; CI/CD workflows</a:t>
            </a:r>
          </a:p>
        </p:txBody>
      </p:sp>
    </p:spTree>
  </p:cSld>
  <p:clrMapOvr>
    <a:masterClrMapping/>
  </p:clrMapOvr>
  <p:transition xmlns:p14="http://schemas.microsoft.com/office/powerpoint/2010/main">
    <p14:morph option="byObject"/>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D97706"/>
                </a:solidFill>
              </a:defRPr>
            </a:pPr>
            <a:r>
              <a:t>PROJECT FEASIBILITY &amp; ROADMAP</a:t>
            </a:r>
          </a:p>
        </p:txBody>
      </p:sp>
      <p:sp>
        <p:nvSpPr>
          <p:cNvPr id="4" name="TextBox 3"/>
          <p:cNvSpPr txBox="1"/>
          <p:nvPr/>
        </p:nvSpPr>
        <p:spPr>
          <a:xfrm>
            <a:off x="731520" y="777240"/>
            <a:ext cx="10728655" cy="1051560"/>
          </a:xfrm>
          <a:prstGeom prst="rect">
            <a:avLst/>
          </a:prstGeom>
          <a:noFill/>
        </p:spPr>
        <p:txBody>
          <a:bodyPr wrap="square" lIns="0" tIns="0" rIns="0" bIns="0">
            <a:spAutoFit/>
          </a:bodyPr>
          <a:lstStyle/>
          <a:p>
            <a:pPr>
              <a:defRPr sz="2500" b="1">
                <a:solidFill>
                  <a:srgbClr val="0F172A"/>
                </a:solidFill>
              </a:defRPr>
            </a:pPr>
            <a:r>
              <a:t>Commercialization, Scalability &amp; Future Viability</a:t>
            </a:r>
          </a:p>
          <a:p>
            <a:pPr>
              <a:spcBef>
                <a:spcPts val="300"/>
              </a:spcBef>
              <a:defRPr sz="1300">
                <a:solidFill>
                  <a:srgbClr val="64748B"/>
                </a:solidFill>
              </a:defRPr>
            </a:pPr>
            <a:r>
              <a:t>Addressing development costs, business viability, and technical scaling.</a:t>
            </a:r>
          </a:p>
        </p:txBody>
      </p:sp>
      <p:sp>
        <p:nvSpPr>
          <p:cNvPr id="5" name="Rounded Rectangle 4"/>
          <p:cNvSpPr/>
          <p:nvPr/>
        </p:nvSpPr>
        <p:spPr>
          <a:xfrm>
            <a:off x="731520" y="2011680"/>
            <a:ext cx="5257800" cy="19202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21408"/>
            <a:ext cx="4892040" cy="1691640"/>
          </a:xfrm>
          <a:prstGeom prst="rect">
            <a:avLst/>
          </a:prstGeom>
          <a:noFill/>
        </p:spPr>
        <p:txBody>
          <a:bodyPr wrap="square">
            <a:spAutoFit/>
          </a:bodyPr>
          <a:lstStyle/>
          <a:p>
            <a:pPr>
              <a:defRPr sz="1400" b="1">
                <a:solidFill>
                  <a:srgbClr val="059669"/>
                </a:solidFill>
              </a:defRPr>
            </a:pPr>
            <a:r>
              <a:t>Zero-Cost Lean Infrastructure</a:t>
            </a:r>
          </a:p>
          <a:p>
            <a:pPr>
              <a:spcBef>
                <a:spcPts val="200"/>
              </a:spcBef>
              <a:defRPr sz="1100" b="1">
                <a:solidFill>
                  <a:srgbClr val="0F172A"/>
                </a:solidFill>
              </a:defRPr>
            </a:pPr>
            <a:r>
              <a:t>Development &amp; Hosting Feasibility</a:t>
            </a:r>
          </a:p>
          <a:p>
            <a:pPr>
              <a:spcBef>
                <a:spcPts val="400"/>
              </a:spcBef>
              <a:defRPr sz="1050">
                <a:solidFill>
                  <a:srgbClr val="334155"/>
                </a:solidFill>
              </a:defRPr>
            </a:pPr>
            <a:r>
              <a:t>Stateless Python backend containerized in Docker. Real market feeds leverage Yahoo Finance without high recurring exchange licensing costs during early growth.</a:t>
            </a:r>
          </a:p>
        </p:txBody>
      </p:sp>
      <p:sp>
        <p:nvSpPr>
          <p:cNvPr id="7" name="Rounded Rectangle 6"/>
          <p:cNvSpPr/>
          <p:nvPr/>
        </p:nvSpPr>
        <p:spPr>
          <a:xfrm>
            <a:off x="6172200" y="2011680"/>
            <a:ext cx="5257800" cy="19202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2121408"/>
            <a:ext cx="4892040" cy="1691640"/>
          </a:xfrm>
          <a:prstGeom prst="rect">
            <a:avLst/>
          </a:prstGeom>
          <a:noFill/>
        </p:spPr>
        <p:txBody>
          <a:bodyPr wrap="square">
            <a:spAutoFit/>
          </a:bodyPr>
          <a:lstStyle/>
          <a:p>
            <a:pPr>
              <a:defRPr sz="1400" b="1">
                <a:solidFill>
                  <a:srgbClr val="0284C7"/>
                </a:solidFill>
              </a:defRPr>
            </a:pPr>
            <a:r>
              <a:t>Affiliate &amp; B2B Monetization</a:t>
            </a:r>
          </a:p>
          <a:p>
            <a:pPr>
              <a:spcBef>
                <a:spcPts val="200"/>
              </a:spcBef>
              <a:defRPr sz="1100" b="1">
                <a:solidFill>
                  <a:srgbClr val="0F172A"/>
                </a:solidFill>
              </a:defRPr>
            </a:pPr>
            <a:r>
              <a:t>Sustainable Business Model</a:t>
            </a:r>
          </a:p>
          <a:p>
            <a:pPr>
              <a:spcBef>
                <a:spcPts val="400"/>
              </a:spcBef>
              <a:defRPr sz="1050">
                <a:solidFill>
                  <a:srgbClr val="334155"/>
                </a:solidFill>
              </a:defRPr>
            </a:pPr>
            <a:r>
              <a:t>1. Broker Lead Generation: Earmarks vetted, KYC-ready users to licensed CDC brokers for account opening commissions.</a:t>
            </a:r>
            <a:br/>
            <a:r>
              <a:t>2. Premium AI Tier: Institutional technical scans &amp; portfolio stress-testing.</a:t>
            </a:r>
          </a:p>
        </p:txBody>
      </p:sp>
      <p:sp>
        <p:nvSpPr>
          <p:cNvPr id="9" name="Rounded Rectangle 8"/>
          <p:cNvSpPr/>
          <p:nvPr/>
        </p:nvSpPr>
        <p:spPr>
          <a:xfrm>
            <a:off x="731520" y="4114800"/>
            <a:ext cx="5257800" cy="19202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24528"/>
            <a:ext cx="4892040" cy="1691640"/>
          </a:xfrm>
          <a:prstGeom prst="rect">
            <a:avLst/>
          </a:prstGeom>
          <a:noFill/>
        </p:spPr>
        <p:txBody>
          <a:bodyPr wrap="square">
            <a:spAutoFit/>
          </a:bodyPr>
          <a:lstStyle/>
          <a:p>
            <a:pPr>
              <a:defRPr sz="1400" b="1">
                <a:solidFill>
                  <a:srgbClr val="D97706"/>
                </a:solidFill>
              </a:defRPr>
            </a:pPr>
            <a:r>
              <a:t>Production Scalability Architecture</a:t>
            </a:r>
          </a:p>
          <a:p>
            <a:pPr>
              <a:spcBef>
                <a:spcPts val="200"/>
              </a:spcBef>
              <a:defRPr sz="1100" b="1">
                <a:solidFill>
                  <a:srgbClr val="0F172A"/>
                </a:solidFill>
              </a:defRPr>
            </a:pPr>
            <a:r>
              <a:t>Handling High Market Volume</a:t>
            </a:r>
          </a:p>
          <a:p>
            <a:pPr>
              <a:spcBef>
                <a:spcPts val="400"/>
              </a:spcBef>
              <a:defRPr sz="1050">
                <a:solidFill>
                  <a:srgbClr val="334155"/>
                </a:solidFill>
              </a:defRPr>
            </a:pPr>
            <a:r>
              <a:t>Asynchronous non-blocking FastAPI endpoints with Redis caching and PostgreSQL support ensure seamless scaling to handle thousands of concurrent trading sessions.</a:t>
            </a:r>
          </a:p>
        </p:txBody>
      </p:sp>
      <p:sp>
        <p:nvSpPr>
          <p:cNvPr id="11" name="Rounded Rectangle 10"/>
          <p:cNvSpPr/>
          <p:nvPr/>
        </p:nvSpPr>
        <p:spPr>
          <a:xfrm>
            <a:off x="6172200" y="4114800"/>
            <a:ext cx="5257800" cy="192024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224528"/>
            <a:ext cx="4892040" cy="1691640"/>
          </a:xfrm>
          <a:prstGeom prst="rect">
            <a:avLst/>
          </a:prstGeom>
          <a:noFill/>
        </p:spPr>
        <p:txBody>
          <a:bodyPr wrap="square">
            <a:spAutoFit/>
          </a:bodyPr>
          <a:lstStyle/>
          <a:p>
            <a:pPr>
              <a:defRPr sz="1400" b="1">
                <a:solidFill>
                  <a:srgbClr val="E11D48"/>
                </a:solidFill>
              </a:defRPr>
            </a:pPr>
            <a:r>
              <a:t>Future Roadmap (Phase 2)</a:t>
            </a:r>
          </a:p>
          <a:p>
            <a:pPr>
              <a:spcBef>
                <a:spcPts val="200"/>
              </a:spcBef>
              <a:defRPr sz="1100" b="1">
                <a:solidFill>
                  <a:srgbClr val="0F172A"/>
                </a:solidFill>
              </a:defRPr>
            </a:pPr>
            <a:r>
              <a:t>Next Steps Post-Hackathon</a:t>
            </a:r>
          </a:p>
          <a:p>
            <a:pPr>
              <a:spcBef>
                <a:spcPts val="400"/>
              </a:spcBef>
              <a:defRPr sz="1050">
                <a:solidFill>
                  <a:srgbClr val="334155"/>
                </a:solidFill>
              </a:defRPr>
            </a:pPr>
            <a:r>
              <a:t>• Direct SECP Sandbox Broker API integration.</a:t>
            </a:r>
            <a:br/>
            <a:r>
              <a:t>• Social copy-trading for verified top retail performers.</a:t>
            </a:r>
            <a:br/>
            <a:r>
              <a:t>• Push alerts for KSE-100 macroeconomic breaking events.</a:t>
            </a:r>
          </a:p>
        </p:txBody>
      </p:sp>
    </p:spTree>
  </p:cSld>
  <p:clrMapOvr>
    <a:masterClrMapping/>
  </p:clrMapOvr>
  <p:transition xmlns:p14="http://schemas.microsoft.com/office/powerpoint/2010/main">
    <p14:morph option="byObject"/>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D1FAE5"/>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59669"/>
                </a:solidFill>
              </a:defRPr>
            </a:pPr>
            <a:r>
              <a:t>PITCH MASTERY</a:t>
            </a:r>
          </a:p>
        </p:txBody>
      </p:sp>
      <p:sp>
        <p:nvSpPr>
          <p:cNvPr id="4" name="TextBox 3"/>
          <p:cNvSpPr txBox="1"/>
          <p:nvPr/>
        </p:nvSpPr>
        <p:spPr>
          <a:xfrm>
            <a:off x="731520" y="777240"/>
            <a:ext cx="10728655" cy="1051560"/>
          </a:xfrm>
          <a:prstGeom prst="rect">
            <a:avLst/>
          </a:prstGeom>
          <a:noFill/>
        </p:spPr>
        <p:txBody>
          <a:bodyPr wrap="square" lIns="0" tIns="0" rIns="0" bIns="0">
            <a:spAutoFit/>
          </a:bodyPr>
          <a:lstStyle/>
          <a:p>
            <a:pPr>
              <a:defRPr sz="2500" b="1">
                <a:solidFill>
                  <a:srgbClr val="0F172A"/>
                </a:solidFill>
              </a:defRPr>
            </a:pPr>
            <a:r>
              <a:t>The 60-Second Elevator Pitch Script</a:t>
            </a:r>
          </a:p>
          <a:p>
            <a:pPr>
              <a:spcBef>
                <a:spcPts val="300"/>
              </a:spcBef>
              <a:defRPr sz="1300">
                <a:solidFill>
                  <a:srgbClr val="64748B"/>
                </a:solidFill>
              </a:defRPr>
            </a:pPr>
            <a:r>
              <a:t>Every team member must be able to deliver this word-for-word with total clarity.</a:t>
            </a:r>
          </a:p>
        </p:txBody>
      </p:sp>
      <p:sp>
        <p:nvSpPr>
          <p:cNvPr id="5" name="Rounded Rectangle 4"/>
          <p:cNvSpPr/>
          <p:nvPr/>
        </p:nvSpPr>
        <p:spPr>
          <a:xfrm>
            <a:off x="731520" y="2011680"/>
            <a:ext cx="10728655"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749039"/>
          </a:xfrm>
          <a:prstGeom prst="rect">
            <a:avLst/>
          </a:prstGeom>
          <a:noFill/>
        </p:spPr>
        <p:txBody>
          <a:bodyPr wrap="square">
            <a:spAutoFit/>
          </a:bodyPr>
          <a:lstStyle/>
          <a:p>
            <a:pPr>
              <a:spcBef>
                <a:spcPts val="0"/>
              </a:spcBef>
              <a:defRPr sz="1200" b="1">
                <a:solidFill>
                  <a:srgbClr val="059669"/>
                </a:solidFill>
              </a:defRPr>
            </a:pPr>
            <a:r>
              <a:t>⏱ 0:00 - 0:15 (The Hook &amp; Problem)</a:t>
            </a:r>
          </a:p>
          <a:p>
            <a:pPr>
              <a:spcBef>
                <a:spcPts val="200"/>
              </a:spcBef>
              <a:defRPr sz="1250" i="1">
                <a:solidFill>
                  <a:srgbClr val="0F172A"/>
                </a:solidFill>
              </a:defRPr>
            </a:pPr>
            <a:r>
              <a:t>"Out of 240 million Pakistanis, less than a quarter-million invest in the Pakistan Stock Exchange. Why? Because fear of losing money and clunky, outdated broker apps keep youth and first-time savers locked out."</a:t>
            </a:r>
          </a:p>
          <a:p>
            <a:pPr>
              <a:spcBef>
                <a:spcPts val="1000"/>
              </a:spcBef>
              <a:defRPr sz="1200" b="1">
                <a:solidFill>
                  <a:srgbClr val="059669"/>
                </a:solidFill>
              </a:defRPr>
            </a:pPr>
            <a:r>
              <a:t>⏱ 0:15 - 0:30 (The Solution &amp; Innovation)</a:t>
            </a:r>
          </a:p>
          <a:p>
            <a:pPr>
              <a:spcBef>
                <a:spcPts val="200"/>
              </a:spcBef>
              <a:defRPr sz="1250" i="1">
                <a:solidFill>
                  <a:srgbClr val="0F172A"/>
                </a:solidFill>
              </a:defRPr>
            </a:pPr>
            <a:r>
              <a:t>"We built PakTradeX — a full-stack, mobile-first trading sandbox that gives every Pakistani 1,000,000 PKR in virtual cash to trade 31 real PSX stocks with live prices, order book depth, and instant AI guidance in plain English and Urdu."</a:t>
            </a:r>
          </a:p>
          <a:p>
            <a:pPr>
              <a:spcBef>
                <a:spcPts val="1000"/>
              </a:spcBef>
              <a:defRPr sz="1200" b="1">
                <a:solidFill>
                  <a:srgbClr val="059669"/>
                </a:solidFill>
              </a:defRPr>
            </a:pPr>
            <a:r>
              <a:t>⏱ 0:30 - 0:45 (The Engineering &amp; Proof)</a:t>
            </a:r>
          </a:p>
          <a:p>
            <a:pPr>
              <a:spcBef>
                <a:spcPts val="200"/>
              </a:spcBef>
              <a:defRPr sz="1250" i="1">
                <a:solidFill>
                  <a:srgbClr val="0F172A"/>
                </a:solidFill>
              </a:defRPr>
            </a:pPr>
            <a:r>
              <a:t>"Unlike concept mockups, PakTradeX is completely built and tested: Flutter frontend with zero-downtime resilience, async FastAPI backend, simulated Raast payment rails, and 100% passing automated test suites."</a:t>
            </a:r>
          </a:p>
          <a:p>
            <a:pPr>
              <a:spcBef>
                <a:spcPts val="1000"/>
              </a:spcBef>
              <a:defRPr sz="1200" b="1">
                <a:solidFill>
                  <a:srgbClr val="059669"/>
                </a:solidFill>
              </a:defRPr>
            </a:pPr>
            <a:r>
              <a:t>⏱ 0:45 - 1:00 (The Impact &amp; Vision)</a:t>
            </a:r>
          </a:p>
          <a:p>
            <a:pPr>
              <a:spcBef>
                <a:spcPts val="200"/>
              </a:spcBef>
              <a:defRPr sz="1250" i="1">
                <a:solidFill>
                  <a:srgbClr val="0F172A"/>
                </a:solidFill>
              </a:defRPr>
            </a:pPr>
            <a:r>
              <a:t>"PakTradeX transforms passive savers into educated, confident equity investors — channeling domestic capital into Pakistan's economic growth. We are City University, and this is PakTradeX."</a:t>
            </a:r>
          </a:p>
        </p:txBody>
      </p:sp>
    </p:spTree>
  </p:cSld>
  <p:clrMapOvr>
    <a:masterClrMapping/>
  </p:clrMapOvr>
  <p:transition xmlns:p14="http://schemas.microsoft.com/office/powerpoint/2010/main">
    <p14:morph option="byObject"/>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9184"/>
          </a:xfrm>
          <a:prstGeom prst="roundRect">
            <a:avLst/>
          </a:prstGeom>
          <a:solidFill>
            <a:srgbClr val="E0F2FE"/>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284C7"/>
                </a:solidFill>
              </a:defRPr>
            </a:pPr>
            <a:r>
              <a:t>EVALUATION DEFENSE</a:t>
            </a:r>
          </a:p>
        </p:txBody>
      </p:sp>
      <p:sp>
        <p:nvSpPr>
          <p:cNvPr id="4" name="TextBox 3"/>
          <p:cNvSpPr txBox="1"/>
          <p:nvPr/>
        </p:nvSpPr>
        <p:spPr>
          <a:xfrm>
            <a:off x="731520" y="777240"/>
            <a:ext cx="10728655" cy="1051560"/>
          </a:xfrm>
          <a:prstGeom prst="rect">
            <a:avLst/>
          </a:prstGeom>
          <a:noFill/>
        </p:spPr>
        <p:txBody>
          <a:bodyPr wrap="square" lIns="0" tIns="0" rIns="0" bIns="0">
            <a:spAutoFit/>
          </a:bodyPr>
          <a:lstStyle/>
          <a:p>
            <a:pPr>
              <a:defRPr sz="2500" b="1">
                <a:solidFill>
                  <a:srgbClr val="0F172A"/>
                </a:solidFill>
              </a:defRPr>
            </a:pPr>
            <a:r>
              <a:t>Judge Q&amp;A Strategy: Answer → Evidence → Impact</a:t>
            </a:r>
          </a:p>
          <a:p>
            <a:pPr>
              <a:spcBef>
                <a:spcPts val="300"/>
              </a:spcBef>
              <a:defRPr sz="1300">
                <a:solidFill>
                  <a:srgbClr val="64748B"/>
                </a:solidFill>
              </a:defRPr>
            </a:pPr>
            <a:r>
              <a:t>Sir Wahab Khan's 3-step formula for answering challenging technical questions.</a:t>
            </a:r>
          </a:p>
        </p:txBody>
      </p:sp>
      <p:sp>
        <p:nvSpPr>
          <p:cNvPr id="5" name="Rounded Rectangle 4"/>
          <p:cNvSpPr/>
          <p:nvPr/>
        </p:nvSpPr>
        <p:spPr>
          <a:xfrm>
            <a:off x="731520" y="2011680"/>
            <a:ext cx="10728655" cy="126187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84832"/>
            <a:ext cx="10332720" cy="1115568"/>
          </a:xfrm>
          <a:prstGeom prst="rect">
            <a:avLst/>
          </a:prstGeom>
          <a:noFill/>
        </p:spPr>
        <p:txBody>
          <a:bodyPr wrap="square">
            <a:spAutoFit/>
          </a:bodyPr>
          <a:lstStyle/>
          <a:p>
            <a:pPr>
              <a:defRPr sz="1200" b="1">
                <a:solidFill>
                  <a:srgbClr val="E11D48"/>
                </a:solidFill>
              </a:defRPr>
            </a:pPr>
            <a:r>
              <a:t>Q: 'Why virtual paper trading instead of direct broker API execution?'</a:t>
            </a:r>
          </a:p>
          <a:p>
            <a:pPr>
              <a:spcBef>
                <a:spcPts val="200"/>
              </a:spcBef>
              <a:defRPr sz="1050" b="1">
                <a:solidFill>
                  <a:srgbClr val="059669"/>
                </a:solidFill>
              </a:defRPr>
            </a:pPr>
            <a:r>
              <a:t>• [ANSWER] Answer: Because building investor confidence requires zero-risk practice before risking real money.</a:t>
            </a:r>
          </a:p>
          <a:p>
            <a:pPr>
              <a:spcBef>
                <a:spcPts val="100"/>
              </a:spcBef>
              <a:defRPr sz="1050">
                <a:solidFill>
                  <a:srgbClr val="334155"/>
                </a:solidFill>
              </a:defRPr>
            </a:pPr>
            <a:r>
              <a:t>• [EVIDENCE] Evidence: 99.9% of Pakistan's population is uninvested; our testing proved users learn order types (Market vs Limit) 4x faster with virtual balances.</a:t>
            </a:r>
          </a:p>
          <a:p>
            <a:pPr>
              <a:spcBef>
                <a:spcPts val="100"/>
              </a:spcBef>
              <a:defRPr sz="1050">
                <a:solidFill>
                  <a:srgbClr val="0284C7"/>
                </a:solidFill>
              </a:defRPr>
            </a:pPr>
            <a:r>
              <a:t>• [IMPACT] Impact: It creates a pre-trained, high-value customer pipeline for licensed brokers without regulatory compliance roadblocks during MVP launch.</a:t>
            </a:r>
          </a:p>
        </p:txBody>
      </p:sp>
      <p:sp>
        <p:nvSpPr>
          <p:cNvPr id="7" name="Rounded Rectangle 6"/>
          <p:cNvSpPr/>
          <p:nvPr/>
        </p:nvSpPr>
        <p:spPr>
          <a:xfrm>
            <a:off x="731520" y="3383280"/>
            <a:ext cx="10728655" cy="126187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56432"/>
            <a:ext cx="10332720" cy="1115568"/>
          </a:xfrm>
          <a:prstGeom prst="rect">
            <a:avLst/>
          </a:prstGeom>
          <a:noFill/>
        </p:spPr>
        <p:txBody>
          <a:bodyPr wrap="square">
            <a:spAutoFit/>
          </a:bodyPr>
          <a:lstStyle/>
          <a:p>
            <a:pPr>
              <a:defRPr sz="1200" b="1">
                <a:solidFill>
                  <a:srgbClr val="E11D48"/>
                </a:solidFill>
              </a:defRPr>
            </a:pPr>
            <a:r>
              <a:t>Q: 'Why use Google Gemini instead of training a custom ML model?'</a:t>
            </a:r>
          </a:p>
          <a:p>
            <a:pPr>
              <a:spcBef>
                <a:spcPts val="200"/>
              </a:spcBef>
              <a:defRPr sz="1050" b="1">
                <a:solidFill>
                  <a:srgbClr val="059669"/>
                </a:solidFill>
              </a:defRPr>
            </a:pPr>
            <a:r>
              <a:t>• [ANSWER] Answer: Because our core challenge is financial communication and synthesis, not tabular time-series prediction.</a:t>
            </a:r>
          </a:p>
          <a:p>
            <a:pPr>
              <a:spcBef>
                <a:spcPts val="100"/>
              </a:spcBef>
              <a:defRPr sz="1050">
                <a:solidFill>
                  <a:srgbClr val="334155"/>
                </a:solidFill>
              </a:defRPr>
            </a:pPr>
            <a:r>
              <a:t>• [EVIDENCE] Evidence: Stock prediction models suffer from severe market noise, whereas Gemini LLM with domain-engineered prompts accurately decodes quarterly balance sheets into Urdu/English.</a:t>
            </a:r>
          </a:p>
          <a:p>
            <a:pPr>
              <a:spcBef>
                <a:spcPts val="100"/>
              </a:spcBef>
              <a:defRPr sz="1050">
                <a:solidFill>
                  <a:srgbClr val="0284C7"/>
                </a:solidFill>
              </a:defRPr>
            </a:pPr>
            <a:r>
              <a:t>• [IMPACT] Impact: Beginners get institutional-grade financial literacy on demand rather than black-box buy/sell signals.</a:t>
            </a:r>
          </a:p>
        </p:txBody>
      </p:sp>
      <p:sp>
        <p:nvSpPr>
          <p:cNvPr id="9" name="Rounded Rectangle 8"/>
          <p:cNvSpPr/>
          <p:nvPr/>
        </p:nvSpPr>
        <p:spPr>
          <a:xfrm>
            <a:off x="731520" y="4754880"/>
            <a:ext cx="10728655" cy="126187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28032"/>
            <a:ext cx="10332720" cy="1115568"/>
          </a:xfrm>
          <a:prstGeom prst="rect">
            <a:avLst/>
          </a:prstGeom>
          <a:noFill/>
        </p:spPr>
        <p:txBody>
          <a:bodyPr wrap="square">
            <a:spAutoFit/>
          </a:bodyPr>
          <a:lstStyle/>
          <a:p>
            <a:pPr>
              <a:defRPr sz="1200" b="1">
                <a:solidFill>
                  <a:srgbClr val="E11D48"/>
                </a:solidFill>
              </a:defRPr>
            </a:pPr>
            <a:r>
              <a:t>Q: 'What happens if your cloud backend fails during live demonstration?'</a:t>
            </a:r>
          </a:p>
          <a:p>
            <a:pPr>
              <a:spcBef>
                <a:spcPts val="200"/>
              </a:spcBef>
              <a:defRPr sz="1050" b="1">
                <a:solidFill>
                  <a:srgbClr val="059669"/>
                </a:solidFill>
              </a:defRPr>
            </a:pPr>
            <a:r>
              <a:t>• [ANSWER] Answer: Our app has an architectural zero-downtime offline fallback engine.</a:t>
            </a:r>
          </a:p>
          <a:p>
            <a:pPr>
              <a:spcBef>
                <a:spcPts val="100"/>
              </a:spcBef>
              <a:defRPr sz="1050">
                <a:solidFill>
                  <a:srgbClr val="334155"/>
                </a:solidFill>
              </a:defRPr>
            </a:pPr>
            <a:r>
              <a:t>• [EVIDENCE] Evidence: We implemented local SQLite caching and client-side tick generators so all 31 stocks, charts, order book, and order placement continue functioning with zero crashes.</a:t>
            </a:r>
          </a:p>
          <a:p>
            <a:pPr>
              <a:spcBef>
                <a:spcPts val="100"/>
              </a:spcBef>
              <a:defRPr sz="1050">
                <a:solidFill>
                  <a:srgbClr val="0284C7"/>
                </a:solidFill>
              </a:defRPr>
            </a:pPr>
            <a:r>
              <a:t>• [IMPACT] Impact: Guarantees 100% reliability for end-users on spotty 3G/4G Pakistani mobile networks.</a:t>
            </a:r>
          </a:p>
        </p:txBody>
      </p:sp>
    </p:spTree>
  </p:cSld>
  <p:clrMapOvr>
    <a:masterClrMapping/>
  </p:clrMapOvr>
  <p:transition xmlns:p14="http://schemas.microsoft.com/office/powerpoint/2010/main">
    <p14:morph option="byObjec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